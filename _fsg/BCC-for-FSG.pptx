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having me. This is a nights-and-weekends thing at the Globe that got out of hand, in a good way. It listens to the city's emergency radio around the clock, and I want to walk through how it actually works, plainly, and then show it to you live. One thing up front: everything you'll see is machine transcription of scanner radio. It is unverified by design, and you'll watch the system admit that over and over. That admission is the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about a century the fix for this was a person sitting next to a speaker all night, and reporters still do exactly that. The radio tells you everything once. If you were making coffee, you missed the shooting. That is the entire problem statement, and it turned out to be the product spec too: give the radio a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one-sentence version: it turns radio, which evaporates, into a record you can see, search, and replay. The plan for the next ten minutes is those five verbs, one at a time, in plain English. The numbers on the right are from a real 48-hour pull this week, so nothing tonight is a projection, and anything on a slide I can also show you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whole thing in one picture, and then I'll take it a stage at a time. Relay machines listen to the streams and transcribe. A serverless layer pulls structure out of the speech and pins it to the map. Redis holds the live board, object storage keeps every transmission with its audio, and a pair of models writes the narrative and audits it. There are no servers we babysit. The bill is small enough that nobody has asked me about it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 one, it listens. Eleven radios around the clock. Boston Police is the firehose, around 3,400 transmissions a day on its own. The one to remember is the bottom row: Fenway Park's security radio, 41 transmissions in this window, the smallest feed on the board. It matters far beyond its size and we'll come back to it near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 two, it writes everything down. This is a real row from Tuesday morning in East Boston. Fifteen seconds of speech becomes a type, a unit, an exact address, a severity tier, membership in a threaded incident, and the audio itself. The clip is the load-bearing part. Every claim this system ever makes keeps its receipt, and that rule is what makes the rest of the machine trustworthy enough to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 three, it figures out where, and this slide is really about the second half of the sentence. We learned it the embarrassing way: the map used to draw weak fixes, and it looked like a permanent riot at City Hall, a ring of unrelated dots stacked on the centroid. Now every fix carries a grade and everything downstream, the map, the search, the grouping, only trusts exact and approximate. The system states less than it knows,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 four is the hard one, and my favorite slide. Nobody on the radio ever says 'this is the same event.' A state trooper calls in a rollover, Boston Fire cuts the driver out, two different radios, nineteen minutes. The system stitched it into one story from shared units, one place, one stretch of time. And notice the transcriber heard Storrow Drive as Zorro Drive. The thread held anyway, because we bet on structure instead of words everywhere the words might lose, and the words are always the least reliable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Verb five, it checks its own work. We stopped trusting single-model output early. One model writes the story, and a second model's entire job is to catch what the first one made up. If nobody said 'confirmed' on the air, the word comes out of the headline. And when the judge wins, the screen says 'model overruled,' in public. My read is that this is the only honest way to put language models in front of professionals: show the disagreement and keep the receipt, which is always the audio.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Transmissions per hour across the same 48 hours: quietest at five in the morning, peak at four in the afternoon, and the two days' curves correlate at 0.86, so the shape is stable enough to be a baseline. Two honest footnotes I like showing. The 4 p.m. peak is almost entirely routine, which is the point: the baseline is boring, that is what makes the exceptions visible. And the amber mark is us: our relays dropped for two and a half hours Tuesday evening, and the archive shows it rather than papering over it. Outside that outage, the longest the entire city went quiet in two days was fourteen minutes, at five in the morning.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the city actually saying? Of the calls the extractor could confidently type in this window, forty percent are medicals, then alarms, then investigations. Violence is a thin slice. And the number I keep coming back to is on the right: fifty transmissions out of sixteen thousand reached tier three, the grade that would page an editor. A third of one percent. The news is the tail, and you can only see a tail if you recorded the whole animal.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all of that machinery is for. The top row is the live half: the map, the board, and the raw listening wall, which is several streams at once, exactly like a newsroom scanner shelf. The bottom row is the memory half, and that is the genuinely new thing: an archive you can question in English, a desk read that is allowed to say it is quiet, and a briefing for whoever just sat down. Radio never had a rewind button before.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exists because the wall is useless in an elevator. The design decision worth naming: the phone owns nothing. Every screen is a window onto the same server routes the wall reads, which is why it went from an empty folder to running on a phone in a day, and why there was no new security surface to think about.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newest idea in the system, and it came from the smallest feed breaking our assumptions. Every rule so far assumed a radio covers a town. Fenway Park's security radio covers one building, so the rules invert: the pin is the building's, always. 'Section 24' rides beside the pin instead of geocoding to nowhere. Distance can never separate two calls, so they thread by what and when. And the analyst is told thirty medicals is an ordinary game night there, a catastrophe anywhere else. For this room I'll just say: if a second building ever wants this treatment, it is a config row and an audio relay. That is the entire sales pitch, I promise.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the archive becomes if you just keep it running. Every number here except lead time is computed from the same 48-hour pull, so treat them as teasers of year-scale questions. Repeat places, a stable pulse, the radio gap between dispatch and the first voice on scene, where the ambulances actually go, and which units carry the load: BMC gets mentioned more than the next three hospitals combined, and one ambulance dispatch voice spoke 372 times in two days. My favorite part for this room: three million rows a year is small data. All of this is a nightly file and a laptop, no cluster, no pipeline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straight about the failure modes, because anyone who builds anything like this hits the same three. Speech, place, and models all fail confidently. The answer turned out to be the same every time: keep the raw evidence attached, grade the claims, and make the system comfortable saying less. A dashboard that guesses is like a smoke detector that hums a little all the time. You stop hearing it the week you install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I stop talking and drive. The wall first and let it breathe, then I type one archive question live, show the shift briefing, put two raw streams on at once so the room hears the wall of scanners, and hand somebody the phone. If questions pull toward their buildings, the venue slide already said the quiet part: a config row and an audio relay.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090F"/>
        </a:solidFill>
      </p:bgPr>
    </p:bg>
    <p:spTree>
      <p:nvGrpSpPr>
        <p:cNvPr id="1" name=""/>
        <p:cNvGrpSpPr/>
        <p:nvPr/>
      </p:nvGrpSpPr>
      <p:grpSpPr>
        <a:xfrm>
          <a:off x="0" y="0"/>
          <a:ext cx="0" cy="0"/>
          <a:chOff x="0" y="0"/>
          <a:chExt cx="0" cy="0"/>
        </a:xfrm>
      </p:grpSpPr>
      <p:pic>
        <p:nvPicPr>
          <p:cNvPr id="2" name="Image 0" descr="/tmp/fsg/assets/mark.png">    </p:cNvPr>
          <p:cNvPicPr>
            <a:picLocks noChangeAspect="1"/>
          </p:cNvPicPr>
          <p:nvPr/>
        </p:nvPicPr>
        <p:blipFill>
          <a:blip r:embed="rId1"/>
          <a:stretch>
            <a:fillRect/>
          </a:stretch>
        </p:blipFill>
        <p:spPr>
          <a:xfrm>
            <a:off x="5001768" y="777240"/>
            <a:ext cx="2194560" cy="2194560"/>
          </a:xfrm>
          <a:prstGeom prst="rect">
            <a:avLst/>
          </a:prstGeom>
        </p:spPr>
      </p:pic>
      <p:sp>
        <p:nvSpPr>
          <p:cNvPr id="3" name="Text 0"/>
          <p:cNvSpPr/>
          <p:nvPr/>
        </p:nvSpPr>
        <p:spPr>
          <a:xfrm>
            <a:off x="0" y="3017520"/>
            <a:ext cx="12188952" cy="822960"/>
          </a:xfrm>
          <a:prstGeom prst="rect">
            <a:avLst/>
          </a:prstGeom>
          <a:noFill/>
          <a:ln/>
        </p:spPr>
        <p:txBody>
          <a:bodyPr wrap="square" rtlCol="0" anchor="ctr"/>
          <a:lstStyle/>
          <a:p>
            <a:pPr algn="ctr" indent="0" marL="0">
              <a:buNone/>
            </a:pPr>
            <a:r>
              <a:rPr lang="en-US" sz="4600" b="1" dirty="0">
                <a:solidFill>
                  <a:srgbClr val="E8EDF4"/>
                </a:solidFill>
                <a:latin typeface="Cambria" pitchFamily="34" charset="0"/>
                <a:ea typeface="Cambria" pitchFamily="34" charset="-122"/>
                <a:cs typeface="Cambria" pitchFamily="34" charset="-120"/>
              </a:rPr>
              <a:t>Boston Control Center</a:t>
            </a:r>
            <a:endParaRPr lang="en-US" sz="4600" dirty="0"/>
          </a:p>
        </p:txBody>
      </p:sp>
      <p:sp>
        <p:nvSpPr>
          <p:cNvPr id="4" name="Text 1"/>
          <p:cNvSpPr/>
          <p:nvPr/>
        </p:nvSpPr>
        <p:spPr>
          <a:xfrm>
            <a:off x="0" y="3822192"/>
            <a:ext cx="12188952" cy="457200"/>
          </a:xfrm>
          <a:prstGeom prst="rect">
            <a:avLst/>
          </a:prstGeom>
          <a:noFill/>
          <a:ln/>
        </p:spPr>
        <p:txBody>
          <a:bodyPr wrap="square" rtlCol="0" anchor="ctr"/>
          <a:lstStyle/>
          <a:p>
            <a:pPr algn="ctr" indent="0" marL="0">
              <a:buNone/>
            </a:pPr>
            <a:r>
              <a:rPr lang="en-US" sz="2000" i="1" dirty="0">
                <a:solidFill>
                  <a:srgbClr val="8FA0B4"/>
                </a:solidFill>
                <a:latin typeface="Cambria" pitchFamily="34" charset="0"/>
                <a:ea typeface="Cambria" pitchFamily="34" charset="-122"/>
                <a:cs typeface="Cambria" pitchFamily="34" charset="-120"/>
              </a:rPr>
              <a:t>A machine that listens to the city</a:t>
            </a:r>
            <a:endParaRPr lang="en-US" sz="2000" dirty="0"/>
          </a:p>
        </p:txBody>
      </p:sp>
      <p:sp>
        <p:nvSpPr>
          <p:cNvPr id="5" name="Text 2"/>
          <p:cNvSpPr/>
          <p:nvPr/>
        </p:nvSpPr>
        <p:spPr>
          <a:xfrm>
            <a:off x="0" y="4434840"/>
            <a:ext cx="12188952" cy="365760"/>
          </a:xfrm>
          <a:prstGeom prst="rect">
            <a:avLst/>
          </a:prstGeom>
          <a:noFill/>
          <a:ln/>
        </p:spPr>
        <p:txBody>
          <a:bodyPr wrap="square" rtlCol="0" anchor="ctr"/>
          <a:lstStyle/>
          <a:p>
            <a:pPr algn="ctr" indent="0" marL="0">
              <a:buNone/>
            </a:pPr>
            <a:r>
              <a:rPr lang="en-US" sz="1500" spc="200" kern="0" dirty="0">
                <a:solidFill>
                  <a:srgbClr val="34D399"/>
                </a:solidFill>
                <a:latin typeface="Courier New" pitchFamily="34" charset="0"/>
                <a:ea typeface="Courier New" pitchFamily="34" charset="-122"/>
                <a:cs typeface="Courier New" pitchFamily="34" charset="-120"/>
              </a:rPr>
              <a:t>scan.boston</a:t>
            </a:r>
            <a:endParaRPr lang="en-US" sz="1500" dirty="0"/>
          </a:p>
        </p:txBody>
      </p:sp>
      <p:sp>
        <p:nvSpPr>
          <p:cNvPr id="6" name="Text 3"/>
          <p:cNvSpPr/>
          <p:nvPr/>
        </p:nvSpPr>
        <p:spPr>
          <a:xfrm>
            <a:off x="0" y="5806440"/>
            <a:ext cx="12188952" cy="320040"/>
          </a:xfrm>
          <a:prstGeom prst="rect">
            <a:avLst/>
          </a:prstGeom>
          <a:noFill/>
          <a:ln/>
        </p:spPr>
        <p:txBody>
          <a:bodyPr wrap="square" rtlCol="0" anchor="ctr"/>
          <a:lstStyle/>
          <a:p>
            <a:pPr algn="ctr" indent="0" marL="0">
              <a:buNone/>
            </a:pPr>
            <a:r>
              <a:rPr lang="en-US" sz="1000" spc="150" kern="0" dirty="0">
                <a:solidFill>
                  <a:srgbClr val="5C6B7F"/>
                </a:solidFill>
                <a:latin typeface="Courier New" pitchFamily="34" charset="0"/>
                <a:ea typeface="Courier New" pitchFamily="34" charset="-122"/>
                <a:cs typeface="Courier New" pitchFamily="34" charset="-120"/>
              </a:rPr>
              <a:t>FENWAY SPORTS GROUP  ·  AUGUST 2026  ·  MATT KAROLIAN, BOSTON GLOBE MEDIA</a:t>
            </a:r>
            <a:endParaRPr lang="en-US" sz="1000" dirty="0"/>
          </a:p>
        </p:txBody>
      </p:sp>
      <p:sp>
        <p:nvSpPr>
          <p:cNvPr id="7" name="Text 4"/>
          <p:cNvSpPr/>
          <p:nvPr/>
        </p:nvSpPr>
        <p:spPr>
          <a:xfrm>
            <a:off x="0" y="6199632"/>
            <a:ext cx="12188952" cy="274320"/>
          </a:xfrm>
          <a:prstGeom prst="rect">
            <a:avLst/>
          </a:prstGeom>
          <a:noFill/>
          <a:ln/>
        </p:spPr>
        <p:txBody>
          <a:bodyPr wrap="square" rtlCol="0" anchor="ctr"/>
          <a:lstStyle/>
          <a:p>
            <a:pPr algn="ctr" indent="0" marL="0">
              <a:buNone/>
            </a:pPr>
            <a:r>
              <a:rPr lang="en-US" sz="850" spc="150" kern="0" dirty="0">
                <a:solidFill>
                  <a:srgbClr val="FFB020"/>
                </a:solidFill>
                <a:latin typeface="Courier New" pitchFamily="34" charset="0"/>
                <a:ea typeface="Courier New" pitchFamily="34" charset="-122"/>
                <a:cs typeface="Courier New" pitchFamily="34" charset="-120"/>
              </a:rPr>
              <a:t>EVERYTHING IN THIS DECK IS MACHINE-TRANSCRIBED RADIO · UNVERIFIED · NOT FOR PUBLICATION</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0" y="2286000"/>
            <a:ext cx="12188952" cy="1005840"/>
          </a:xfrm>
          <a:prstGeom prst="rect">
            <a:avLst/>
          </a:prstGeom>
          <a:noFill/>
          <a:ln/>
        </p:spPr>
        <p:txBody>
          <a:bodyPr wrap="square" rtlCol="0" anchor="ctr"/>
          <a:lstStyle/>
          <a:p>
            <a:pPr algn="ctr" indent="0" marL="0">
              <a:buNone/>
            </a:pPr>
            <a:r>
              <a:rPr lang="en-US" sz="5400" b="1" dirty="0">
                <a:solidFill>
                  <a:srgbClr val="E8EDF4"/>
                </a:solidFill>
                <a:latin typeface="Cambria" pitchFamily="34" charset="0"/>
                <a:ea typeface="Cambria" pitchFamily="34" charset="-122"/>
                <a:cs typeface="Cambria" pitchFamily="34" charset="-120"/>
              </a:rPr>
              <a:t>Scanner radio evaporates.</a:t>
            </a:r>
            <a:endParaRPr lang="en-US" sz="5400" dirty="0"/>
          </a:p>
        </p:txBody>
      </p:sp>
      <p:sp>
        <p:nvSpPr>
          <p:cNvPr id="5" name="Text 3"/>
          <p:cNvSpPr/>
          <p:nvPr/>
        </p:nvSpPr>
        <p:spPr>
          <a:xfrm>
            <a:off x="0" y="3429000"/>
            <a:ext cx="12188952" cy="548640"/>
          </a:xfrm>
          <a:prstGeom prst="rect">
            <a:avLst/>
          </a:prstGeom>
          <a:noFill/>
          <a:ln/>
        </p:spPr>
        <p:txBody>
          <a:bodyPr wrap="square" rtlCol="0" anchor="ctr"/>
          <a:lstStyle/>
          <a:p>
            <a:pPr algn="ctr" indent="0" marL="0">
              <a:buNone/>
            </a:pPr>
            <a:r>
              <a:rPr lang="en-US" sz="2200" i="1" dirty="0">
                <a:solidFill>
                  <a:srgbClr val="8FA0B4"/>
                </a:solidFill>
                <a:latin typeface="Cambria" pitchFamily="34" charset="0"/>
                <a:ea typeface="Cambria" pitchFamily="34" charset="-122"/>
                <a:cs typeface="Cambria" pitchFamily="34" charset="-120"/>
              </a:rPr>
              <a:t>Said once, to whoever happened to be listening. Then gone.</a:t>
            </a:r>
            <a:endParaRPr lang="en-US" sz="2200" dirty="0"/>
          </a:p>
        </p:txBody>
      </p:sp>
      <p:sp>
        <p:nvSpPr>
          <p:cNvPr id="6" name="Text 4"/>
          <p:cNvSpPr/>
          <p:nvPr/>
        </p:nvSpPr>
        <p:spPr>
          <a:xfrm>
            <a:off x="0" y="4343400"/>
            <a:ext cx="12188952" cy="365760"/>
          </a:xfrm>
          <a:prstGeom prst="rect">
            <a:avLst/>
          </a:prstGeom>
          <a:noFill/>
          <a:ln/>
        </p:spPr>
        <p:txBody>
          <a:bodyPr wrap="square" rtlCol="0" anchor="ctr"/>
          <a:lstStyle/>
          <a:p>
            <a:pPr algn="ctr" indent="0" marL="0">
              <a:buNone/>
            </a:pPr>
            <a:r>
              <a:rPr lang="en-US" sz="1200" spc="300" kern="0" dirty="0">
                <a:solidFill>
                  <a:srgbClr val="5C6B7F"/>
                </a:solidFill>
                <a:latin typeface="Courier New" pitchFamily="34" charset="0"/>
                <a:ea typeface="Courier New" pitchFamily="34" charset="-122"/>
                <a:cs typeface="Courier New" pitchFamily="34" charset="-120"/>
              </a:rPr>
              <a:t>NO REWIND · NO SEARCH · NO MEMORY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320040" y="256032"/>
            <a:ext cx="11521440" cy="566928"/>
          </a:xfrm>
          <a:prstGeom prst="rect">
            <a:avLst/>
          </a:prstGeom>
          <a:noFill/>
          <a:ln/>
        </p:spPr>
        <p:txBody>
          <a:bodyPr wrap="square" lIns="0" tIns="0" rIns="0" bIns="0" rtlCol="0" anchor="ctr"/>
          <a:lstStyle/>
          <a:p>
            <a:pPr indent="0" marL="0">
              <a:buNone/>
            </a:pPr>
            <a:r>
              <a:rPr lang="en-US" sz="3000" b="1" dirty="0">
                <a:solidFill>
                  <a:srgbClr val="E8EDF4"/>
                </a:solidFill>
                <a:latin typeface="Cambria" pitchFamily="34" charset="0"/>
                <a:ea typeface="Cambria" pitchFamily="34" charset="-122"/>
                <a:cs typeface="Cambria" pitchFamily="34" charset="-120"/>
              </a:rPr>
              <a:t>What this is</a:t>
            </a:r>
            <a:endParaRPr lang="en-US" sz="3000" dirty="0"/>
          </a:p>
        </p:txBody>
      </p:sp>
      <p:sp>
        <p:nvSpPr>
          <p:cNvPr id="5" name="Text 3"/>
          <p:cNvSpPr/>
          <p:nvPr/>
        </p:nvSpPr>
        <p:spPr>
          <a:xfrm>
            <a:off x="338328" y="841248"/>
            <a:ext cx="11521440" cy="274320"/>
          </a:xfrm>
          <a:prstGeom prst="rect">
            <a:avLst/>
          </a:prstGeom>
          <a:noFill/>
          <a:ln/>
        </p:spPr>
        <p:txBody>
          <a:bodyPr wrap="square" lIns="0" tIns="0" rIns="0" bIns="0" rtlCol="0" anchor="ctr"/>
          <a:lstStyle/>
          <a:p>
            <a:pPr indent="0" marL="0">
              <a:buNone/>
            </a:pPr>
            <a:r>
              <a:rPr lang="en-US" sz="1050" spc="150" kern="0" dirty="0">
                <a:solidFill>
                  <a:srgbClr val="5C6B7F"/>
                </a:solidFill>
                <a:latin typeface="Courier New" pitchFamily="34" charset="0"/>
                <a:ea typeface="Courier New" pitchFamily="34" charset="-122"/>
                <a:cs typeface="Courier New" pitchFamily="34" charset="-120"/>
              </a:rPr>
              <a:t>ELEVEN RADIOS IN, ONE LIVING RECORD OUT</a:t>
            </a:r>
            <a:endParaRPr lang="en-US" sz="1050" dirty="0"/>
          </a:p>
        </p:txBody>
      </p:sp>
      <p:sp>
        <p:nvSpPr>
          <p:cNvPr id="6" name="Text 4"/>
          <p:cNvSpPr/>
          <p:nvPr/>
        </p:nvSpPr>
        <p:spPr>
          <a:xfrm>
            <a:off x="365760" y="1417320"/>
            <a:ext cx="6492240" cy="4206240"/>
          </a:xfrm>
          <a:prstGeom prst="rect">
            <a:avLst/>
          </a:prstGeom>
          <a:noFill/>
          <a:ln/>
        </p:spPr>
        <p:txBody>
          <a:bodyPr wrap="square" lIns="0" tIns="0" rIns="0" bIns="0" rtlCol="0" anchor="t"/>
          <a:lstStyle/>
          <a:p>
            <a:pPr indent="0" marL="0">
              <a:buNone/>
            </a:pPr>
            <a:r>
              <a:rPr lang="en-US" sz="1700" dirty="0">
                <a:solidFill>
                  <a:srgbClr val="E8EDF4"/>
                </a:solidFill>
                <a:latin typeface="Calibri" pitchFamily="34" charset="0"/>
                <a:ea typeface="Calibri" pitchFamily="34" charset="-122"/>
                <a:cs typeface="Calibri" pitchFamily="34" charset="-120"/>
              </a:rPr>
              <a:t>Police, fire, EMS, and transit radio across Greater Boston, transcribed as it is spoken. Every transmission is typed, located, threaded into incidents, archived with its own audio, and answerable in plain English.
</a:t>
            </a:r>
            <a:pPr indent="0" marL="0">
              <a:buNone/>
            </a:pPr>
            <a:r>
              <a:rPr lang="en-US" sz="1500" dirty="0">
                <a:solidFill>
                  <a:srgbClr val="8FA0B4"/>
                </a:solidFill>
                <a:latin typeface="Calibri" pitchFamily="34" charset="0"/>
                <a:ea typeface="Calibri" pitchFamily="34" charset="-122"/>
                <a:cs typeface="Calibri" pitchFamily="34" charset="-120"/>
              </a:rPr>
              <a:t>Five verbs, and the rest is detail: it listens, it writes everything down, it figures out where, it threads calls into stories, and it checks its own work.
</a:t>
            </a:r>
            <a:pPr indent="0" marL="0">
              <a:buNone/>
            </a:pPr>
            <a:r>
              <a:rPr lang="en-US" sz="1500" dirty="0">
                <a:solidFill>
                  <a:srgbClr val="8FA0B4"/>
                </a:solidFill>
                <a:latin typeface="Calibri" pitchFamily="34" charset="0"/>
                <a:ea typeface="Calibri" pitchFamily="34" charset="-122"/>
                <a:cs typeface="Calibri" pitchFamily="34" charset="-120"/>
              </a:rPr>
              <a:t>Built inside Boston Globe Media as a newsroom tool. Runs unattended.</a:t>
            </a:r>
            <a:endParaRPr lang="en-US" sz="1700" dirty="0"/>
          </a:p>
        </p:txBody>
      </p:sp>
      <p:sp>
        <p:nvSpPr>
          <p:cNvPr id="7" name="Shape 5"/>
          <p:cNvSpPr/>
          <p:nvPr/>
        </p:nvSpPr>
        <p:spPr>
          <a:xfrm>
            <a:off x="7406640" y="1371600"/>
            <a:ext cx="4434840" cy="1371600"/>
          </a:xfrm>
          <a:prstGeom prst="roundRect">
            <a:avLst>
              <a:gd name="adj" fmla="val 5333"/>
            </a:avLst>
          </a:prstGeom>
          <a:solidFill>
            <a:srgbClr val="0D131D"/>
          </a:solidFill>
          <a:ln w="12700">
            <a:solidFill>
              <a:srgbClr val="232C3B"/>
            </a:solidFill>
            <a:prstDash val="solid"/>
          </a:ln>
        </p:spPr>
      </p:sp>
      <p:sp>
        <p:nvSpPr>
          <p:cNvPr id="8" name="Text 6"/>
          <p:cNvSpPr/>
          <p:nvPr/>
        </p:nvSpPr>
        <p:spPr>
          <a:xfrm>
            <a:off x="7571232" y="1481328"/>
            <a:ext cx="4105656" cy="685800"/>
          </a:xfrm>
          <a:prstGeom prst="rect">
            <a:avLst/>
          </a:prstGeom>
          <a:noFill/>
          <a:ln/>
        </p:spPr>
        <p:txBody>
          <a:bodyPr wrap="square" lIns="0" tIns="0" rIns="0" bIns="0" rtlCol="0" anchor="ctr"/>
          <a:lstStyle/>
          <a:p>
            <a:pPr indent="0" marL="0">
              <a:buNone/>
            </a:pPr>
            <a:r>
              <a:rPr lang="en-US" sz="3000" b="1" dirty="0">
                <a:solidFill>
                  <a:srgbClr val="34D399"/>
                </a:solidFill>
                <a:latin typeface="Courier New" pitchFamily="34" charset="0"/>
                <a:ea typeface="Courier New" pitchFamily="34" charset="-122"/>
                <a:cs typeface="Courier New" pitchFamily="34" charset="-120"/>
              </a:rPr>
              <a:t>16,075</a:t>
            </a:r>
            <a:endParaRPr lang="en-US" sz="3000" dirty="0"/>
          </a:p>
        </p:txBody>
      </p:sp>
      <p:sp>
        <p:nvSpPr>
          <p:cNvPr id="9" name="Text 7"/>
          <p:cNvSpPr/>
          <p:nvPr/>
        </p:nvSpPr>
        <p:spPr>
          <a:xfrm>
            <a:off x="7571232" y="2176272"/>
            <a:ext cx="4105656" cy="502920"/>
          </a:xfrm>
          <a:prstGeom prst="rect">
            <a:avLst/>
          </a:prstGeom>
          <a:noFill/>
          <a:ln/>
        </p:spPr>
        <p:txBody>
          <a:bodyPr wrap="square" lIns="0" tIns="0" rIns="0" bIns="0" rtlCol="0" anchor="ctr"/>
          <a:lstStyle/>
          <a:p>
            <a:pPr indent="0" marL="0">
              <a:buNone/>
            </a:pPr>
            <a:r>
              <a:rPr lang="en-US" sz="900" spc="120" kern="0" dirty="0">
                <a:solidFill>
                  <a:srgbClr val="5C6B7F"/>
                </a:solidFill>
                <a:latin typeface="Courier New" pitchFamily="34" charset="0"/>
                <a:ea typeface="Courier New" pitchFamily="34" charset="-122"/>
                <a:cs typeface="Courier New" pitchFamily="34" charset="-120"/>
              </a:rPr>
              <a:t>TRANSMISSIONS KEPT IN ONE 48-HOUR WINDOW</a:t>
            </a:r>
            <a:endParaRPr lang="en-US" sz="900" dirty="0"/>
          </a:p>
        </p:txBody>
      </p:sp>
      <p:sp>
        <p:nvSpPr>
          <p:cNvPr id="10" name="Shape 8"/>
          <p:cNvSpPr/>
          <p:nvPr/>
        </p:nvSpPr>
        <p:spPr>
          <a:xfrm>
            <a:off x="7406640" y="2926080"/>
            <a:ext cx="4434840" cy="1371600"/>
          </a:xfrm>
          <a:prstGeom prst="roundRect">
            <a:avLst>
              <a:gd name="adj" fmla="val 5333"/>
            </a:avLst>
          </a:prstGeom>
          <a:solidFill>
            <a:srgbClr val="0D131D"/>
          </a:solidFill>
          <a:ln w="12700">
            <a:solidFill>
              <a:srgbClr val="232C3B"/>
            </a:solidFill>
            <a:prstDash val="solid"/>
          </a:ln>
        </p:spPr>
      </p:sp>
      <p:sp>
        <p:nvSpPr>
          <p:cNvPr id="11" name="Text 9"/>
          <p:cNvSpPr/>
          <p:nvPr/>
        </p:nvSpPr>
        <p:spPr>
          <a:xfrm>
            <a:off x="7571232" y="3035808"/>
            <a:ext cx="4105656" cy="685800"/>
          </a:xfrm>
          <a:prstGeom prst="rect">
            <a:avLst/>
          </a:prstGeom>
          <a:noFill/>
          <a:ln/>
        </p:spPr>
        <p:txBody>
          <a:bodyPr wrap="square" lIns="0" tIns="0" rIns="0" bIns="0" rtlCol="0" anchor="ctr"/>
          <a:lstStyle/>
          <a:p>
            <a:pPr indent="0" marL="0">
              <a:buNone/>
            </a:pPr>
            <a:r>
              <a:rPr lang="en-US" sz="3000" b="1" dirty="0">
                <a:solidFill>
                  <a:srgbClr val="34D399"/>
                </a:solidFill>
                <a:latin typeface="Courier New" pitchFamily="34" charset="0"/>
                <a:ea typeface="Courier New" pitchFamily="34" charset="-122"/>
                <a:cs typeface="Courier New" pitchFamily="34" charset="-120"/>
              </a:rPr>
              <a:t>107</a:t>
            </a:r>
            <a:endParaRPr lang="en-US" sz="3000" dirty="0"/>
          </a:p>
        </p:txBody>
      </p:sp>
      <p:sp>
        <p:nvSpPr>
          <p:cNvPr id="12" name="Text 10"/>
          <p:cNvSpPr/>
          <p:nvPr/>
        </p:nvSpPr>
        <p:spPr>
          <a:xfrm>
            <a:off x="7571232" y="3730752"/>
            <a:ext cx="4105656" cy="502920"/>
          </a:xfrm>
          <a:prstGeom prst="rect">
            <a:avLst/>
          </a:prstGeom>
          <a:noFill/>
          <a:ln/>
        </p:spPr>
        <p:txBody>
          <a:bodyPr wrap="square" lIns="0" tIns="0" rIns="0" bIns="0" rtlCol="0" anchor="ctr"/>
          <a:lstStyle/>
          <a:p>
            <a:pPr indent="0" marL="0">
              <a:buNone/>
            </a:pPr>
            <a:r>
              <a:rPr lang="en-US" sz="900" spc="120" kern="0" dirty="0">
                <a:solidFill>
                  <a:srgbClr val="5C6B7F"/>
                </a:solidFill>
                <a:latin typeface="Courier New" pitchFamily="34" charset="0"/>
                <a:ea typeface="Courier New" pitchFamily="34" charset="-122"/>
                <a:cs typeface="Courier New" pitchFamily="34" charset="-120"/>
              </a:rPr>
              <a:t>CITIES AND TOWNS HEARD IN THAT WINDOW</a:t>
            </a:r>
            <a:endParaRPr lang="en-US" sz="900" dirty="0"/>
          </a:p>
        </p:txBody>
      </p:sp>
      <p:sp>
        <p:nvSpPr>
          <p:cNvPr id="13" name="Shape 11"/>
          <p:cNvSpPr/>
          <p:nvPr/>
        </p:nvSpPr>
        <p:spPr>
          <a:xfrm>
            <a:off x="7406640" y="4480560"/>
            <a:ext cx="4434840" cy="1371600"/>
          </a:xfrm>
          <a:prstGeom prst="roundRect">
            <a:avLst>
              <a:gd name="adj" fmla="val 5333"/>
            </a:avLst>
          </a:prstGeom>
          <a:solidFill>
            <a:srgbClr val="0D131D"/>
          </a:solidFill>
          <a:ln w="12700">
            <a:solidFill>
              <a:srgbClr val="232C3B"/>
            </a:solidFill>
            <a:prstDash val="solid"/>
          </a:ln>
        </p:spPr>
      </p:sp>
      <p:sp>
        <p:nvSpPr>
          <p:cNvPr id="14" name="Text 12"/>
          <p:cNvSpPr/>
          <p:nvPr/>
        </p:nvSpPr>
        <p:spPr>
          <a:xfrm>
            <a:off x="7571232" y="4590288"/>
            <a:ext cx="4105656" cy="685800"/>
          </a:xfrm>
          <a:prstGeom prst="rect">
            <a:avLst/>
          </a:prstGeom>
          <a:noFill/>
          <a:ln/>
        </p:spPr>
        <p:txBody>
          <a:bodyPr wrap="square" lIns="0" tIns="0" rIns="0" bIns="0" rtlCol="0" anchor="ctr"/>
          <a:lstStyle/>
          <a:p>
            <a:pPr indent="0" marL="0">
              <a:buNone/>
            </a:pPr>
            <a:r>
              <a:rPr lang="en-US" sz="3000" b="1" dirty="0">
                <a:solidFill>
                  <a:srgbClr val="34D399"/>
                </a:solidFill>
                <a:latin typeface="Courier New" pitchFamily="34" charset="0"/>
                <a:ea typeface="Courier New" pitchFamily="34" charset="-122"/>
                <a:cs typeface="Courier New" pitchFamily="34" charset="-120"/>
              </a:rPr>
              <a:t>99.9%</a:t>
            </a:r>
            <a:endParaRPr lang="en-US" sz="3000" dirty="0"/>
          </a:p>
        </p:txBody>
      </p:sp>
      <p:sp>
        <p:nvSpPr>
          <p:cNvPr id="15" name="Text 13"/>
          <p:cNvSpPr/>
          <p:nvPr/>
        </p:nvSpPr>
        <p:spPr>
          <a:xfrm>
            <a:off x="7571232" y="5285232"/>
            <a:ext cx="4105656" cy="502920"/>
          </a:xfrm>
          <a:prstGeom prst="rect">
            <a:avLst/>
          </a:prstGeom>
          <a:noFill/>
          <a:ln/>
        </p:spPr>
        <p:txBody>
          <a:bodyPr wrap="square" lIns="0" tIns="0" rIns="0" bIns="0" rtlCol="0" anchor="ctr"/>
          <a:lstStyle/>
          <a:p>
            <a:pPr indent="0" marL="0">
              <a:buNone/>
            </a:pPr>
            <a:r>
              <a:rPr lang="en-US" sz="900" spc="120" kern="0" dirty="0">
                <a:solidFill>
                  <a:srgbClr val="5C6B7F"/>
                </a:solidFill>
                <a:latin typeface="Courier New" pitchFamily="34" charset="0"/>
                <a:ea typeface="Courier New" pitchFamily="34" charset="-122"/>
                <a:cs typeface="Courier New" pitchFamily="34" charset="-120"/>
              </a:rPr>
              <a:t>OF TRANSMISSIONS CARRY PLAYABLE AUDIO</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pic>
        <p:nvPicPr>
          <p:cNvPr id="4" name="Image 0" descr="/tmp/fsg/assets/pipeline.png">    </p:cNvPr>
          <p:cNvPicPr>
            <a:picLocks noChangeAspect="1"/>
          </p:cNvPicPr>
          <p:nvPr/>
        </p:nvPicPr>
        <p:blipFill>
          <a:blip r:embed="rId1"/>
          <a:stretch>
            <a:fillRect/>
          </a:stretch>
        </p:blipFill>
        <p:spPr>
          <a:xfrm>
            <a:off x="320040" y="384048"/>
            <a:ext cx="11548872" cy="4489704"/>
          </a:xfrm>
          <a:prstGeom prst="rect">
            <a:avLst/>
          </a:prstGeom>
        </p:spPr>
      </p:pic>
      <p:sp>
        <p:nvSpPr>
          <p:cNvPr id="5" name="Text 2"/>
          <p:cNvSpPr/>
          <p:nvPr/>
        </p:nvSpPr>
        <p:spPr>
          <a:xfrm>
            <a:off x="365760" y="5074920"/>
            <a:ext cx="11430000" cy="365760"/>
          </a:xfrm>
          <a:prstGeom prst="rect">
            <a:avLst/>
          </a:prstGeom>
          <a:noFill/>
          <a:ln/>
        </p:spPr>
        <p:txBody>
          <a:bodyPr wrap="square" lIns="0" tIns="0" rIns="0" bIns="0" rtlCol="0" anchor="ctr"/>
          <a:lstStyle/>
          <a:p>
            <a:pPr indent="0" marL="0">
              <a:buNone/>
            </a:pPr>
            <a:r>
              <a:rPr lang="en-US" sz="1100" spc="100" kern="0" dirty="0">
                <a:solidFill>
                  <a:srgbClr val="5C6B7F"/>
                </a:solidFill>
                <a:latin typeface="Courier New" pitchFamily="34" charset="0"/>
                <a:ea typeface="Courier New" pitchFamily="34" charset="-122"/>
                <a:cs typeface="Courier New" pitchFamily="34" charset="-120"/>
              </a:rPr>
              <a:t>Vercel serverless  ·  Upstash Redis  ·  Vercel Blob  ·  models via OpenRouter  ·  the only hardware we own is the radios</a:t>
            </a:r>
            <a:endParaRPr lang="en-US" sz="1100" dirty="0"/>
          </a:p>
        </p:txBody>
      </p:sp>
      <p:sp>
        <p:nvSpPr>
          <p:cNvPr id="6" name="Text 3"/>
          <p:cNvSpPr/>
          <p:nvPr/>
        </p:nvSpPr>
        <p:spPr>
          <a:xfrm>
            <a:off x="365760" y="5577840"/>
            <a:ext cx="11430000" cy="457200"/>
          </a:xfrm>
          <a:prstGeom prst="rect">
            <a:avLst/>
          </a:prstGeom>
          <a:noFill/>
          <a:ln/>
        </p:spPr>
        <p:txBody>
          <a:bodyPr wrap="square" lIns="0" tIns="0" rIns="0" bIns="0" rtlCol="0" anchor="ctr"/>
          <a:lstStyle/>
          <a:p>
            <a:pPr indent="0" marL="0">
              <a:buNone/>
            </a:pPr>
            <a:r>
              <a:rPr lang="en-US" sz="1400" i="1" dirty="0">
                <a:solidFill>
                  <a:srgbClr val="8FA0B4"/>
                </a:solidFill>
                <a:latin typeface="Calibri" pitchFamily="34" charset="0"/>
                <a:ea typeface="Calibri" pitchFamily="34" charset="-122"/>
                <a:cs typeface="Calibri" pitchFamily="34" charset="-120"/>
              </a:rPr>
              <a:t>The whole machine in one picture. The next five slides walk it left to right.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pic>
        <p:nvPicPr>
          <p:cNvPr id="4" name="Image 0" descr="/tmp/fsg/assets/feeds.png">    </p:cNvPr>
          <p:cNvPicPr>
            <a:picLocks noChangeAspect="1"/>
          </p:cNvPicPr>
          <p:nvPr/>
        </p:nvPicPr>
        <p:blipFill>
          <a:blip r:embed="rId1"/>
          <a:stretch>
            <a:fillRect/>
          </a:stretch>
        </p:blipFill>
        <p:spPr>
          <a:xfrm>
            <a:off x="1426464" y="320040"/>
            <a:ext cx="9326880" cy="5129784"/>
          </a:xfrm>
          <a:prstGeom prst="rect">
            <a:avLst/>
          </a:prstGeom>
        </p:spPr>
      </p:pic>
      <p:sp>
        <p:nvSpPr>
          <p:cNvPr id="5" name="Text 2"/>
          <p:cNvSpPr/>
          <p:nvPr/>
        </p:nvSpPr>
        <p:spPr>
          <a:xfrm>
            <a:off x="1463040" y="5623560"/>
            <a:ext cx="9326880" cy="457200"/>
          </a:xfrm>
          <a:prstGeom prst="rect">
            <a:avLst/>
          </a:prstGeom>
          <a:noFill/>
          <a:ln/>
        </p:spPr>
        <p:txBody>
          <a:bodyPr wrap="square" lIns="0" tIns="0" rIns="0" bIns="0" rtlCol="0" anchor="ctr"/>
          <a:lstStyle/>
          <a:p>
            <a:pPr indent="0" marL="0">
              <a:buNone/>
            </a:pPr>
            <a:r>
              <a:rPr lang="en-US" sz="1400" i="1" dirty="0">
                <a:solidFill>
                  <a:srgbClr val="8FA0B4"/>
                </a:solidFill>
                <a:latin typeface="Calibri" pitchFamily="34" charset="0"/>
                <a:ea typeface="Calibri" pitchFamily="34" charset="-122"/>
                <a:cs typeface="Calibri" pitchFamily="34" charset="-120"/>
              </a:rPr>
              <a:t>Verb one: it listens. Ten of these radios cover towns. The eleventh covers one building; hold that thought.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320040" y="256032"/>
            <a:ext cx="11521440" cy="566928"/>
          </a:xfrm>
          <a:prstGeom prst="rect">
            <a:avLst/>
          </a:prstGeom>
          <a:noFill/>
          <a:ln/>
        </p:spPr>
        <p:txBody>
          <a:bodyPr wrap="square" lIns="0" tIns="0" rIns="0" bIns="0" rtlCol="0" anchor="ctr"/>
          <a:lstStyle/>
          <a:p>
            <a:pPr indent="0" marL="0">
              <a:buNone/>
            </a:pPr>
            <a:r>
              <a:rPr lang="en-US" sz="3000" b="1" dirty="0">
                <a:solidFill>
                  <a:srgbClr val="E8EDF4"/>
                </a:solidFill>
                <a:latin typeface="Cambria" pitchFamily="34" charset="0"/>
                <a:ea typeface="Cambria" pitchFamily="34" charset="-122"/>
                <a:cs typeface="Cambria" pitchFamily="34" charset="-120"/>
              </a:rPr>
              <a:t>It writes everything down</a:t>
            </a:r>
            <a:endParaRPr lang="en-US" sz="3000" dirty="0"/>
          </a:p>
        </p:txBody>
      </p:sp>
      <p:sp>
        <p:nvSpPr>
          <p:cNvPr id="5" name="Text 3"/>
          <p:cNvSpPr/>
          <p:nvPr/>
        </p:nvSpPr>
        <p:spPr>
          <a:xfrm>
            <a:off x="338328" y="841248"/>
            <a:ext cx="11521440" cy="274320"/>
          </a:xfrm>
          <a:prstGeom prst="rect">
            <a:avLst/>
          </a:prstGeom>
          <a:noFill/>
          <a:ln/>
        </p:spPr>
        <p:txBody>
          <a:bodyPr wrap="square" lIns="0" tIns="0" rIns="0" bIns="0" rtlCol="0" anchor="ctr"/>
          <a:lstStyle/>
          <a:p>
            <a:pPr indent="0" marL="0">
              <a:buNone/>
            </a:pPr>
            <a:r>
              <a:rPr lang="en-US" sz="1050" spc="150" kern="0" dirty="0">
                <a:solidFill>
                  <a:srgbClr val="5C6B7F"/>
                </a:solidFill>
                <a:latin typeface="Courier New" pitchFamily="34" charset="0"/>
                <a:ea typeface="Courier New" pitchFamily="34" charset="-122"/>
                <a:cs typeface="Courier New" pitchFamily="34" charset="-120"/>
              </a:rPr>
              <a:t>ONE REAL ROW · TUESDAY 8:58 A.M. · EAST BOSTON</a:t>
            </a:r>
            <a:endParaRPr lang="en-US" sz="1050" dirty="0"/>
          </a:p>
        </p:txBody>
      </p:sp>
      <p:sp>
        <p:nvSpPr>
          <p:cNvPr id="6" name="Shape 4"/>
          <p:cNvSpPr/>
          <p:nvPr/>
        </p:nvSpPr>
        <p:spPr>
          <a:xfrm>
            <a:off x="365760" y="1371600"/>
            <a:ext cx="5577840" cy="3017520"/>
          </a:xfrm>
          <a:prstGeom prst="roundRect">
            <a:avLst>
              <a:gd name="adj" fmla="val 2424"/>
            </a:avLst>
          </a:prstGeom>
          <a:solidFill>
            <a:srgbClr val="0D131D"/>
          </a:solidFill>
          <a:ln w="12700">
            <a:solidFill>
              <a:srgbClr val="232C3B"/>
            </a:solidFill>
            <a:prstDash val="solid"/>
          </a:ln>
        </p:spPr>
      </p:sp>
      <p:sp>
        <p:nvSpPr>
          <p:cNvPr id="7" name="Text 5"/>
          <p:cNvSpPr/>
          <p:nvPr/>
        </p:nvSpPr>
        <p:spPr>
          <a:xfrm>
            <a:off x="594360" y="1600200"/>
            <a:ext cx="2743200" cy="274320"/>
          </a:xfrm>
          <a:prstGeom prst="rect">
            <a:avLst/>
          </a:prstGeom>
          <a:noFill/>
          <a:ln/>
        </p:spPr>
        <p:txBody>
          <a:bodyPr wrap="square" lIns="0" tIns="0" rIns="0" bIns="0" rtlCol="0" anchor="ctr"/>
          <a:lstStyle/>
          <a:p>
            <a:pPr indent="0" marL="0">
              <a:buNone/>
            </a:pPr>
            <a:r>
              <a:rPr lang="en-US" sz="1000" b="1" spc="200" kern="0" dirty="0">
                <a:solidFill>
                  <a:srgbClr val="FFB020"/>
                </a:solidFill>
                <a:latin typeface="Courier New" pitchFamily="34" charset="0"/>
                <a:ea typeface="Courier New" pitchFamily="34" charset="-122"/>
                <a:cs typeface="Courier New" pitchFamily="34" charset="-120"/>
              </a:rPr>
              <a:t>THE RADIO SAID</a:t>
            </a:r>
            <a:endParaRPr lang="en-US" sz="1000" dirty="0"/>
          </a:p>
        </p:txBody>
      </p:sp>
      <p:sp>
        <p:nvSpPr>
          <p:cNvPr id="8" name="Text 6"/>
          <p:cNvSpPr/>
          <p:nvPr/>
        </p:nvSpPr>
        <p:spPr>
          <a:xfrm>
            <a:off x="594360" y="1965960"/>
            <a:ext cx="5120640" cy="1737360"/>
          </a:xfrm>
          <a:prstGeom prst="rect">
            <a:avLst/>
          </a:prstGeom>
          <a:noFill/>
          <a:ln/>
        </p:spPr>
        <p:txBody>
          <a:bodyPr wrap="square" lIns="0" tIns="0" rIns="0" bIns="0" rtlCol="0" anchor="t"/>
          <a:lstStyle/>
          <a:p>
            <a:pPr indent="0" marL="0">
              <a:buNone/>
            </a:pPr>
            <a:r>
              <a:rPr lang="en-US" sz="1600" i="1" dirty="0">
                <a:solidFill>
                  <a:srgbClr val="E8EDF4"/>
                </a:solidFill>
                <a:latin typeface="Cambria" pitchFamily="34" charset="0"/>
                <a:ea typeface="Cambria" pitchFamily="34" charset="-122"/>
                <a:cs typeface="Cambria" pitchFamily="34" charset="-120"/>
              </a:rPr>
              <a:t>“Coming in for an AMB in progress, 406 Meridian, apartment 11. Caller's stating the neighbor just assaulted her.”</a:t>
            </a:r>
            <a:endParaRPr lang="en-US" sz="1600" dirty="0"/>
          </a:p>
        </p:txBody>
      </p:sp>
      <p:sp>
        <p:nvSpPr>
          <p:cNvPr id="9" name="Text 7"/>
          <p:cNvSpPr/>
          <p:nvPr/>
        </p:nvSpPr>
        <p:spPr>
          <a:xfrm>
            <a:off x="594360" y="3886200"/>
            <a:ext cx="5120640" cy="320040"/>
          </a:xfrm>
          <a:prstGeom prst="rect">
            <a:avLst/>
          </a:prstGeom>
          <a:noFill/>
          <a:ln/>
        </p:spPr>
        <p:txBody>
          <a:bodyPr wrap="square" lIns="0" tIns="0" rIns="0" bIns="0" rtlCol="0" anchor="ctr"/>
          <a:lstStyle/>
          <a:p>
            <a:pPr indent="0" marL="0">
              <a:buNone/>
            </a:pPr>
            <a:r>
              <a:rPr lang="en-US" sz="950" spc="100" kern="0" dirty="0">
                <a:solidFill>
                  <a:srgbClr val="5C6B7F"/>
                </a:solidFill>
                <a:latin typeface="Courier New" pitchFamily="34" charset="0"/>
                <a:ea typeface="Courier New" pitchFamily="34" charset="-122"/>
                <a:cs typeface="Courier New" pitchFamily="34" charset="-120"/>
              </a:rPr>
              <a:t>fifteen seconds of air, gone unless somebody was listening</a:t>
            </a:r>
            <a:endParaRPr lang="en-US" sz="950" dirty="0"/>
          </a:p>
        </p:txBody>
      </p:sp>
      <p:sp>
        <p:nvSpPr>
          <p:cNvPr id="10" name="Shape 8"/>
          <p:cNvSpPr/>
          <p:nvPr/>
        </p:nvSpPr>
        <p:spPr>
          <a:xfrm>
            <a:off x="6263640" y="1371600"/>
            <a:ext cx="5577840" cy="4480560"/>
          </a:xfrm>
          <a:prstGeom prst="roundRect">
            <a:avLst>
              <a:gd name="adj" fmla="val 1633"/>
            </a:avLst>
          </a:prstGeom>
          <a:solidFill>
            <a:srgbClr val="0D131D"/>
          </a:solidFill>
          <a:ln w="12700">
            <a:solidFill>
              <a:srgbClr val="232C3B"/>
            </a:solidFill>
            <a:prstDash val="solid"/>
          </a:ln>
        </p:spPr>
      </p:sp>
      <p:sp>
        <p:nvSpPr>
          <p:cNvPr id="11" name="Text 9"/>
          <p:cNvSpPr/>
          <p:nvPr/>
        </p:nvSpPr>
        <p:spPr>
          <a:xfrm>
            <a:off x="6492240" y="1600200"/>
            <a:ext cx="3200400" cy="274320"/>
          </a:xfrm>
          <a:prstGeom prst="rect">
            <a:avLst/>
          </a:prstGeom>
          <a:noFill/>
          <a:ln/>
        </p:spPr>
        <p:txBody>
          <a:bodyPr wrap="square" lIns="0" tIns="0" rIns="0" bIns="0" rtlCol="0" anchor="ctr"/>
          <a:lstStyle/>
          <a:p>
            <a:pPr indent="0" marL="0">
              <a:buNone/>
            </a:pPr>
            <a:r>
              <a:rPr lang="en-US" sz="1000" b="1" spc="200" kern="0" dirty="0">
                <a:solidFill>
                  <a:srgbClr val="34D399"/>
                </a:solidFill>
                <a:latin typeface="Courier New" pitchFamily="34" charset="0"/>
                <a:ea typeface="Courier New" pitchFamily="34" charset="-122"/>
                <a:cs typeface="Courier New" pitchFamily="34" charset="-120"/>
              </a:rPr>
              <a:t>THE ROW IT BECOMES</a:t>
            </a:r>
            <a:endParaRPr lang="en-US" sz="1000" dirty="0"/>
          </a:p>
        </p:txBody>
      </p:sp>
      <p:sp>
        <p:nvSpPr>
          <p:cNvPr id="12" name="Text 10"/>
          <p:cNvSpPr/>
          <p:nvPr/>
        </p:nvSpPr>
        <p:spPr>
          <a:xfrm>
            <a:off x="6492240" y="1965960"/>
            <a:ext cx="5120640" cy="3749040"/>
          </a:xfrm>
          <a:prstGeom prst="rect">
            <a:avLst/>
          </a:prstGeom>
          <a:noFill/>
          <a:ln/>
        </p:spPr>
        <p:txBody>
          <a:bodyPr wrap="square" lIns="0" tIns="0" rIns="0" bIns="0" rtlCol="0" anchor="t"/>
          <a:lstStyle/>
          <a:p>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at         </a:t>
            </a:r>
            <a:pPr indent="0" marL="0">
              <a:lnSpc>
                <a:spcPts val="2100"/>
              </a:lnSpc>
              <a:buNone/>
            </a:pPr>
            <a:r>
              <a:rPr lang="en-US" sz="1250" dirty="0">
                <a:solidFill>
                  <a:srgbClr val="E8EDF4"/>
                </a:solidFill>
                <a:latin typeface="Courier New" pitchFamily="34" charset="0"/>
                <a:ea typeface="Courier New" pitchFamily="34" charset="-122"/>
                <a:cs typeface="Courier New" pitchFamily="34" charset="-120"/>
              </a:rPr>
              <a:t>2026-08-18T12:58:06Z
</a:t>
            </a:r>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feed       </a:t>
            </a:r>
            <a:pPr indent="0" marL="0">
              <a:lnSpc>
                <a:spcPts val="2100"/>
              </a:lnSpc>
              <a:buNone/>
            </a:pPr>
            <a:r>
              <a:rPr lang="en-US" sz="1250" dirty="0">
                <a:solidFill>
                  <a:srgbClr val="E8EDF4"/>
                </a:solidFill>
                <a:latin typeface="Courier New" pitchFamily="34" charset="0"/>
                <a:ea typeface="Courier New" pitchFamily="34" charset="-122"/>
                <a:cs typeface="Courier New" pitchFamily="34" charset="-120"/>
              </a:rPr>
              <a:t>boston-police
</a:t>
            </a:r>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callType   </a:t>
            </a:r>
            <a:pPr indent="0" marL="0">
              <a:lnSpc>
                <a:spcPts val="2100"/>
              </a:lnSpc>
              <a:buNone/>
            </a:pPr>
            <a:r>
              <a:rPr lang="en-US" sz="1250" dirty="0">
                <a:solidFill>
                  <a:srgbClr val="E8EDF4"/>
                </a:solidFill>
                <a:latin typeface="Courier New" pitchFamily="34" charset="0"/>
                <a:ea typeface="Courier New" pitchFamily="34" charset="-122"/>
                <a:cs typeface="Courier New" pitchFamily="34" charset="-120"/>
              </a:rPr>
              <a:t>assault
</a:t>
            </a:r>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units      </a:t>
            </a:r>
            <a:pPr indent="0" marL="0">
              <a:lnSpc>
                <a:spcPts val="2100"/>
              </a:lnSpc>
              <a:buNone/>
            </a:pPr>
            <a:r>
              <a:rPr lang="en-US" sz="1250" dirty="0">
                <a:solidFill>
                  <a:srgbClr val="E8EDF4"/>
                </a:solidFill>
                <a:latin typeface="Courier New" pitchFamily="34" charset="0"/>
                <a:ea typeface="Courier New" pitchFamily="34" charset="-122"/>
                <a:cs typeface="Courier New" pitchFamily="34" charset="-120"/>
              </a:rPr>
              <a:t>AMB
</a:t>
            </a:r>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address    </a:t>
            </a:r>
            <a:pPr indent="0" marL="0">
              <a:lnSpc>
                <a:spcPts val="2100"/>
              </a:lnSpc>
              <a:buNone/>
            </a:pPr>
            <a:r>
              <a:rPr lang="en-US" sz="1250" dirty="0">
                <a:solidFill>
                  <a:srgbClr val="E8EDF4"/>
                </a:solidFill>
                <a:latin typeface="Courier New" pitchFamily="34" charset="0"/>
                <a:ea typeface="Courier New" pitchFamily="34" charset="-122"/>
                <a:cs typeface="Courier New" pitchFamily="34" charset="-120"/>
              </a:rPr>
              <a:t>406 Meridian St, Boston
</a:t>
            </a:r>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lat, lon   </a:t>
            </a:r>
            <a:pPr indent="0" marL="0">
              <a:lnSpc>
                <a:spcPts val="2100"/>
              </a:lnSpc>
              <a:buNone/>
            </a:pPr>
            <a:r>
              <a:rPr lang="en-US" sz="1250" dirty="0">
                <a:solidFill>
                  <a:srgbClr val="E8EDF4"/>
                </a:solidFill>
                <a:latin typeface="Courier New" pitchFamily="34" charset="0"/>
                <a:ea typeface="Courier New" pitchFamily="34" charset="-122"/>
                <a:cs typeface="Courier New" pitchFamily="34" charset="-120"/>
              </a:rPr>
              <a:t>42.38032, -71.03933
</a:t>
            </a:r>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precision  </a:t>
            </a:r>
            <a:pPr indent="0" marL="0">
              <a:lnSpc>
                <a:spcPts val="2100"/>
              </a:lnSpc>
              <a:buNone/>
            </a:pPr>
            <a:r>
              <a:rPr lang="en-US" sz="1250" dirty="0">
                <a:solidFill>
                  <a:srgbClr val="34D399"/>
                </a:solidFill>
                <a:latin typeface="Courier New" pitchFamily="34" charset="0"/>
                <a:ea typeface="Courier New" pitchFamily="34" charset="-122"/>
                <a:cs typeface="Courier New" pitchFamily="34" charset="-120"/>
              </a:rPr>
              <a:t>exact
</a:t>
            </a:r>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tier       </a:t>
            </a:r>
            <a:pPr indent="0" marL="0">
              <a:lnSpc>
                <a:spcPts val="2100"/>
              </a:lnSpc>
              <a:buNone/>
            </a:pPr>
            <a:r>
              <a:rPr lang="en-US" sz="1250" dirty="0">
                <a:solidFill>
                  <a:srgbClr val="E8EDF4"/>
                </a:solidFill>
                <a:latin typeface="Courier New" pitchFamily="34" charset="0"/>
                <a:ea typeface="Courier New" pitchFamily="34" charset="-122"/>
                <a:cs typeface="Courier New" pitchFamily="34" charset="-120"/>
              </a:rPr>
              <a:t>2 (violence signal)
</a:t>
            </a:r>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incident   </a:t>
            </a:r>
            <a:pPr indent="0" marL="0">
              <a:lnSpc>
                <a:spcPts val="2100"/>
              </a:lnSpc>
              <a:buNone/>
            </a:pPr>
            <a:r>
              <a:rPr lang="en-US" sz="1250" dirty="0">
                <a:solidFill>
                  <a:srgbClr val="E8EDF4"/>
                </a:solidFill>
                <a:latin typeface="Courier New" pitchFamily="34" charset="0"/>
                <a:ea typeface="Courier New" pitchFamily="34" charset="-122"/>
                <a:cs typeface="Courier New" pitchFamily="34" charset="-120"/>
              </a:rPr>
              <a:t>inc-msyo4wyn · threaded
</a:t>
            </a:r>
            <a:pPr indent="0" marL="0">
              <a:lnSpc>
                <a:spcPts val="2100"/>
              </a:lnSpc>
              <a:buNone/>
            </a:pPr>
            <a:r>
              <a:rPr lang="en-US" sz="1250" dirty="0">
                <a:solidFill>
                  <a:srgbClr val="5C6B7F"/>
                </a:solidFill>
                <a:latin typeface="Courier New" pitchFamily="34" charset="0"/>
                <a:ea typeface="Courier New" pitchFamily="34" charset="-122"/>
                <a:cs typeface="Courier New" pitchFamily="34" charset="-120"/>
              </a:rPr>
              <a:t>clip       </a:t>
            </a:r>
            <a:pPr indent="0" marL="0">
              <a:lnSpc>
                <a:spcPts val="2100"/>
              </a:lnSpc>
              <a:buNone/>
            </a:pPr>
            <a:r>
              <a:rPr lang="en-US" sz="1250" dirty="0">
                <a:solidFill>
                  <a:srgbClr val="34D399"/>
                </a:solidFill>
                <a:latin typeface="Courier New" pitchFamily="34" charset="0"/>
                <a:ea typeface="Courier New" pitchFamily="34" charset="-122"/>
                <a:cs typeface="Courier New" pitchFamily="34" charset="-120"/>
              </a:rPr>
              <a:t>▸ audio, one tap from every claim</a:t>
            </a:r>
            <a:endParaRPr lang="en-US" sz="1250" dirty="0"/>
          </a:p>
        </p:txBody>
      </p:sp>
      <p:sp>
        <p:nvSpPr>
          <p:cNvPr id="13" name="Text 11"/>
          <p:cNvSpPr/>
          <p:nvPr/>
        </p:nvSpPr>
        <p:spPr>
          <a:xfrm>
            <a:off x="365760" y="5989320"/>
            <a:ext cx="11430000" cy="365760"/>
          </a:xfrm>
          <a:prstGeom prst="rect">
            <a:avLst/>
          </a:prstGeom>
          <a:noFill/>
          <a:ln/>
        </p:spPr>
        <p:txBody>
          <a:bodyPr wrap="square" lIns="0" tIns="0" rIns="0" bIns="0" rtlCol="0" anchor="ctr"/>
          <a:lstStyle/>
          <a:p>
            <a:pPr indent="0" marL="0">
              <a:buNone/>
            </a:pPr>
            <a:r>
              <a:rPr lang="en-US" sz="1400" i="1" dirty="0">
                <a:solidFill>
                  <a:srgbClr val="8FA0B4"/>
                </a:solidFill>
                <a:latin typeface="Calibri" pitchFamily="34" charset="0"/>
                <a:ea typeface="Calibri" pitchFamily="34" charset="-122"/>
                <a:cs typeface="Calibri" pitchFamily="34" charset="-120"/>
              </a:rPr>
              <a:t>Sixteen thousand of these per two days. Each one is two API calls away from any question you can phrase.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320040" y="256032"/>
            <a:ext cx="11521440" cy="566928"/>
          </a:xfrm>
          <a:prstGeom prst="rect">
            <a:avLst/>
          </a:prstGeom>
          <a:noFill/>
          <a:ln/>
        </p:spPr>
        <p:txBody>
          <a:bodyPr wrap="square" lIns="0" tIns="0" rIns="0" bIns="0" rtlCol="0" anchor="ctr"/>
          <a:lstStyle/>
          <a:p>
            <a:pPr indent="0" marL="0">
              <a:buNone/>
            </a:pPr>
            <a:r>
              <a:rPr lang="en-US" sz="3000" b="1" dirty="0">
                <a:solidFill>
                  <a:srgbClr val="E8EDF4"/>
                </a:solidFill>
                <a:latin typeface="Cambria" pitchFamily="34" charset="0"/>
                <a:ea typeface="Cambria" pitchFamily="34" charset="-122"/>
                <a:cs typeface="Cambria" pitchFamily="34" charset="-120"/>
              </a:rPr>
              <a:t>It figures out where, and admits when it can't</a:t>
            </a:r>
            <a:endParaRPr lang="en-US" sz="3000" dirty="0"/>
          </a:p>
        </p:txBody>
      </p:sp>
      <p:sp>
        <p:nvSpPr>
          <p:cNvPr id="5" name="Text 3"/>
          <p:cNvSpPr/>
          <p:nvPr/>
        </p:nvSpPr>
        <p:spPr>
          <a:xfrm>
            <a:off x="338328" y="841248"/>
            <a:ext cx="11521440" cy="274320"/>
          </a:xfrm>
          <a:prstGeom prst="rect">
            <a:avLst/>
          </a:prstGeom>
          <a:noFill/>
          <a:ln/>
        </p:spPr>
        <p:txBody>
          <a:bodyPr wrap="square" lIns="0" tIns="0" rIns="0" bIns="0" rtlCol="0" anchor="ctr"/>
          <a:lstStyle/>
          <a:p>
            <a:pPr indent="0" marL="0">
              <a:buNone/>
            </a:pPr>
            <a:r>
              <a:rPr lang="en-US" sz="1050" spc="150" kern="0" dirty="0">
                <a:solidFill>
                  <a:srgbClr val="5C6B7F"/>
                </a:solidFill>
                <a:latin typeface="Courier New" pitchFamily="34" charset="0"/>
                <a:ea typeface="Courier New" pitchFamily="34" charset="-122"/>
                <a:cs typeface="Courier New" pitchFamily="34" charset="-120"/>
              </a:rPr>
              <a:t>EVERY GEOCODE IS GRADED · WEAK FIXES NEVER DRAW</a:t>
            </a:r>
            <a:endParaRPr lang="en-US" sz="1050" dirty="0"/>
          </a:p>
        </p:txBody>
      </p:sp>
      <p:sp>
        <p:nvSpPr>
          <p:cNvPr id="6" name="Shape 4"/>
          <p:cNvSpPr/>
          <p:nvPr/>
        </p:nvSpPr>
        <p:spPr>
          <a:xfrm>
            <a:off x="365760" y="2011680"/>
            <a:ext cx="5166360" cy="2148840"/>
          </a:xfrm>
          <a:prstGeom prst="roundRect">
            <a:avLst>
              <a:gd name="adj" fmla="val 3404"/>
            </a:avLst>
          </a:prstGeom>
          <a:solidFill>
            <a:srgbClr val="0D131D"/>
          </a:solidFill>
          <a:ln w="12700">
            <a:solidFill>
              <a:srgbClr val="232C3B"/>
            </a:solidFill>
            <a:prstDash val="solid"/>
          </a:ln>
        </p:spPr>
      </p:sp>
      <p:sp>
        <p:nvSpPr>
          <p:cNvPr id="7" name="Text 5"/>
          <p:cNvSpPr/>
          <p:nvPr/>
        </p:nvSpPr>
        <p:spPr>
          <a:xfrm>
            <a:off x="530352" y="2121408"/>
            <a:ext cx="4837176" cy="1074420"/>
          </a:xfrm>
          <a:prstGeom prst="rect">
            <a:avLst/>
          </a:prstGeom>
          <a:noFill/>
          <a:ln/>
        </p:spPr>
        <p:txBody>
          <a:bodyPr wrap="square" lIns="0" tIns="0" rIns="0" bIns="0" rtlCol="0" anchor="ctr"/>
          <a:lstStyle/>
          <a:p>
            <a:pPr indent="0" marL="0">
              <a:buNone/>
            </a:pPr>
            <a:r>
              <a:rPr lang="en-US" sz="3000" b="1" dirty="0">
                <a:solidFill>
                  <a:srgbClr val="FFB020"/>
                </a:solidFill>
                <a:latin typeface="Courier New" pitchFamily="34" charset="0"/>
                <a:ea typeface="Courier New" pitchFamily="34" charset="-122"/>
                <a:cs typeface="Courier New" pitchFamily="34" charset="-120"/>
              </a:rPr>
              <a:t>12,281</a:t>
            </a:r>
            <a:endParaRPr lang="en-US" sz="3000" dirty="0"/>
          </a:p>
        </p:txBody>
      </p:sp>
      <p:sp>
        <p:nvSpPr>
          <p:cNvPr id="8" name="Text 6"/>
          <p:cNvSpPr/>
          <p:nvPr/>
        </p:nvSpPr>
        <p:spPr>
          <a:xfrm>
            <a:off x="530352" y="3593592"/>
            <a:ext cx="4837176" cy="502920"/>
          </a:xfrm>
          <a:prstGeom prst="rect">
            <a:avLst/>
          </a:prstGeom>
          <a:noFill/>
          <a:ln/>
        </p:spPr>
        <p:txBody>
          <a:bodyPr wrap="square" lIns="0" tIns="0" rIns="0" bIns="0" rtlCol="0" anchor="ctr"/>
          <a:lstStyle/>
          <a:p>
            <a:pPr indent="0" marL="0">
              <a:buNone/>
            </a:pPr>
            <a:r>
              <a:rPr lang="en-US" sz="900" spc="120" kern="0" dirty="0">
                <a:solidFill>
                  <a:srgbClr val="5C6B7F"/>
                </a:solidFill>
                <a:latin typeface="Courier New" pitchFamily="34" charset="0"/>
                <a:ea typeface="Courier New" pitchFamily="34" charset="-122"/>
                <a:cs typeface="Courier New" pitchFamily="34" charset="-120"/>
              </a:rPr>
              <a:t>OF 16,075 FIXES IN 48H WERE WEAK: PLACEABLE ONLY AS “SOMEWHERE IN BOSTON”</a:t>
            </a:r>
            <a:endParaRPr lang="en-US" sz="900" dirty="0"/>
          </a:p>
        </p:txBody>
      </p:sp>
      <p:sp>
        <p:nvSpPr>
          <p:cNvPr id="9" name="Text 7"/>
          <p:cNvSpPr/>
          <p:nvPr/>
        </p:nvSpPr>
        <p:spPr>
          <a:xfrm>
            <a:off x="384048" y="4343400"/>
            <a:ext cx="5486400" cy="365760"/>
          </a:xfrm>
          <a:prstGeom prst="rect">
            <a:avLst/>
          </a:prstGeom>
          <a:noFill/>
          <a:ln/>
        </p:spPr>
        <p:txBody>
          <a:bodyPr wrap="square" lIns="0" tIns="0" rIns="0" bIns="0" rtlCol="0" anchor="ctr"/>
          <a:lstStyle/>
          <a:p>
            <a:pPr indent="0" marL="0">
              <a:buNone/>
            </a:pPr>
            <a:r>
              <a:rPr lang="en-US" sz="1200" b="1" spc="50" kern="0" dirty="0">
                <a:solidFill>
                  <a:srgbClr val="34D399"/>
                </a:solidFill>
                <a:latin typeface="Courier New" pitchFamily="34" charset="0"/>
                <a:ea typeface="Courier New" pitchFamily="34" charset="-122"/>
                <a:cs typeface="Courier New" pitchFamily="34" charset="-120"/>
              </a:rPr>
              <a:t>EXACT 1,783</a:t>
            </a:r>
            <a:pPr indent="0" marL="0">
              <a:buNone/>
            </a:pPr>
            <a:r>
              <a:rPr lang="en-US" sz="1200" b="1" spc="50" kern="0" dirty="0">
                <a:solidFill>
                  <a:srgbClr val="5C6B7F"/>
                </a:solidFill>
                <a:latin typeface="Courier New" pitchFamily="34" charset="0"/>
                <a:ea typeface="Courier New" pitchFamily="34" charset="-122"/>
                <a:cs typeface="Courier New" pitchFamily="34" charset="-120"/>
              </a:rPr>
              <a:t>  ·  </a:t>
            </a:r>
            <a:pPr indent="0" marL="0">
              <a:buNone/>
            </a:pPr>
            <a:r>
              <a:rPr lang="en-US" sz="1200" b="1" spc="50" kern="0" dirty="0">
                <a:solidFill>
                  <a:srgbClr val="4DA3FF"/>
                </a:solidFill>
                <a:latin typeface="Courier New" pitchFamily="34" charset="0"/>
                <a:ea typeface="Courier New" pitchFamily="34" charset="-122"/>
                <a:cs typeface="Courier New" pitchFamily="34" charset="-120"/>
              </a:rPr>
              <a:t>APPROX 537</a:t>
            </a:r>
            <a:pPr indent="0" marL="0">
              <a:buNone/>
            </a:pPr>
            <a:r>
              <a:rPr lang="en-US" sz="1200" b="1" spc="50" kern="0" dirty="0">
                <a:solidFill>
                  <a:srgbClr val="5C6B7F"/>
                </a:solidFill>
                <a:latin typeface="Courier New" pitchFamily="34" charset="0"/>
                <a:ea typeface="Courier New" pitchFamily="34" charset="-122"/>
                <a:cs typeface="Courier New" pitchFamily="34" charset="-120"/>
              </a:rPr>
              <a:t>  ·  </a:t>
            </a:r>
            <a:pPr indent="0" marL="0">
              <a:buNone/>
            </a:pPr>
            <a:r>
              <a:rPr lang="en-US" sz="1200" b="1" spc="50" kern="0" dirty="0">
                <a:solidFill>
                  <a:srgbClr val="FFB020"/>
                </a:solidFill>
                <a:latin typeface="Courier New" pitchFamily="34" charset="0"/>
                <a:ea typeface="Courier New" pitchFamily="34" charset="-122"/>
                <a:cs typeface="Courier New" pitchFamily="34" charset="-120"/>
              </a:rPr>
              <a:t>WEAK 12,281</a:t>
            </a:r>
            <a:endParaRPr lang="en-US" sz="1200" dirty="0"/>
          </a:p>
        </p:txBody>
      </p:sp>
      <p:sp>
        <p:nvSpPr>
          <p:cNvPr id="10" name="Text 8"/>
          <p:cNvSpPr/>
          <p:nvPr/>
        </p:nvSpPr>
        <p:spPr>
          <a:xfrm>
            <a:off x="5760720" y="2011680"/>
            <a:ext cx="6035040" cy="3657600"/>
          </a:xfrm>
          <a:prstGeom prst="rect">
            <a:avLst/>
          </a:prstGeom>
          <a:noFill/>
          <a:ln/>
        </p:spPr>
        <p:txBody>
          <a:bodyPr wrap="square" lIns="0" tIns="0" rIns="0" bIns="0" rtlCol="0" anchor="t"/>
          <a:lstStyle/>
          <a:p>
            <a:pPr indent="0" marL="0">
              <a:buNone/>
            </a:pPr>
            <a:r>
              <a:rPr lang="en-US" sz="1550" dirty="0">
                <a:solidFill>
                  <a:srgbClr val="8FA0B4"/>
                </a:solidFill>
                <a:latin typeface="Calibri" pitchFamily="34" charset="0"/>
                <a:ea typeface="Calibri" pitchFamily="34" charset="-122"/>
                <a:cs typeface="Calibri" pitchFamily="34" charset="-120"/>
              </a:rPr>
              <a:t>Three quarters of everything said on the air names no findable place. A weak fix is the town centroid, which for Boston is a spot by City Hall, and drawing them piled thousands of unrelated calls into a phantom mass incident at Government Center.
</a:t>
            </a:r>
            <a:pPr indent="0" marL="0">
              <a:buNone/>
            </a:pPr>
            <a:r>
              <a:rPr lang="en-US" sz="1550" dirty="0">
                <a:solidFill>
                  <a:srgbClr val="8FA0B4"/>
                </a:solidFill>
                <a:latin typeface="Calibri" pitchFamily="34" charset="0"/>
                <a:ea typeface="Calibri" pitchFamily="34" charset="-122"/>
                <a:cs typeface="Calibri" pitchFamily="34" charset="-120"/>
              </a:rPr>
              <a:t>So a weak fix refuses to draw. The call keeps its card in every list; the map declines to state a place nobody said.
</a:t>
            </a:r>
            <a:pPr indent="0" marL="0">
              <a:buNone/>
            </a:pPr>
            <a:r>
              <a:rPr lang="en-US" sz="1550" b="1" dirty="0">
                <a:solidFill>
                  <a:srgbClr val="E8EDF4"/>
                </a:solidFill>
                <a:latin typeface="Calibri" pitchFamily="34" charset="0"/>
                <a:ea typeface="Calibri" pitchFamily="34" charset="-122"/>
                <a:cs typeface="Calibri" pitchFamily="34" charset="-120"/>
              </a:rPr>
              <a:t>A wrong pin is worse than no pin.</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320040" y="256032"/>
            <a:ext cx="11521440" cy="566928"/>
          </a:xfrm>
          <a:prstGeom prst="rect">
            <a:avLst/>
          </a:prstGeom>
          <a:noFill/>
          <a:ln/>
        </p:spPr>
        <p:txBody>
          <a:bodyPr wrap="square" lIns="0" tIns="0" rIns="0" bIns="0" rtlCol="0" anchor="ctr"/>
          <a:lstStyle/>
          <a:p>
            <a:pPr indent="0" marL="0">
              <a:buNone/>
            </a:pPr>
            <a:r>
              <a:rPr lang="en-US" sz="3000" b="1" dirty="0">
                <a:solidFill>
                  <a:srgbClr val="E8EDF4"/>
                </a:solidFill>
                <a:latin typeface="Cambria" pitchFamily="34" charset="0"/>
                <a:ea typeface="Cambria" pitchFamily="34" charset="-122"/>
                <a:cs typeface="Cambria" pitchFamily="34" charset="-120"/>
              </a:rPr>
              <a:t>It threads calls into stories</a:t>
            </a:r>
            <a:endParaRPr lang="en-US" sz="3000" dirty="0"/>
          </a:p>
        </p:txBody>
      </p:sp>
      <p:sp>
        <p:nvSpPr>
          <p:cNvPr id="5" name="Text 3"/>
          <p:cNvSpPr/>
          <p:nvPr/>
        </p:nvSpPr>
        <p:spPr>
          <a:xfrm>
            <a:off x="338328" y="841248"/>
            <a:ext cx="11521440" cy="274320"/>
          </a:xfrm>
          <a:prstGeom prst="rect">
            <a:avLst/>
          </a:prstGeom>
          <a:noFill/>
          <a:ln/>
        </p:spPr>
        <p:txBody>
          <a:bodyPr wrap="square" lIns="0" tIns="0" rIns="0" bIns="0" rtlCol="0" anchor="ctr"/>
          <a:lstStyle/>
          <a:p>
            <a:pPr indent="0" marL="0">
              <a:buNone/>
            </a:pPr>
            <a:r>
              <a:rPr lang="en-US" sz="1050" spc="150" kern="0" dirty="0">
                <a:solidFill>
                  <a:srgbClr val="5C6B7F"/>
                </a:solidFill>
                <a:latin typeface="Courier New" pitchFamily="34" charset="0"/>
                <a:ea typeface="Courier New" pitchFamily="34" charset="-122"/>
                <a:cs typeface="Courier New" pitchFamily="34" charset="-120"/>
              </a:rPr>
              <a:t>REAL THREAD · STORROW DRIVE · 1:17 TO 1:36 A.M. TUESDAY</a:t>
            </a:r>
            <a:endParaRPr lang="en-US" sz="1050" dirty="0"/>
          </a:p>
        </p:txBody>
      </p:sp>
      <p:pic>
        <p:nvPicPr>
          <p:cNvPr id="6" name="Image 0" descr="/tmp/fsg/assets/thread.png">    </p:cNvPr>
          <p:cNvPicPr>
            <a:picLocks noChangeAspect="1"/>
          </p:cNvPicPr>
          <p:nvPr/>
        </p:nvPicPr>
        <p:blipFill>
          <a:blip r:embed="rId1"/>
          <a:stretch>
            <a:fillRect/>
          </a:stretch>
        </p:blipFill>
        <p:spPr>
          <a:xfrm>
            <a:off x="594360" y="1737360"/>
            <a:ext cx="11000232" cy="2935224"/>
          </a:xfrm>
          <a:prstGeom prst="rect">
            <a:avLst/>
          </a:prstGeom>
        </p:spPr>
      </p:pic>
      <p:sp>
        <p:nvSpPr>
          <p:cNvPr id="7" name="Text 4"/>
          <p:cNvSpPr/>
          <p:nvPr/>
        </p:nvSpPr>
        <p:spPr>
          <a:xfrm>
            <a:off x="822960" y="5029200"/>
            <a:ext cx="10515600" cy="685800"/>
          </a:xfrm>
          <a:prstGeom prst="rect">
            <a:avLst/>
          </a:prstGeom>
          <a:noFill/>
          <a:ln/>
        </p:spPr>
        <p:txBody>
          <a:bodyPr wrap="square" lIns="0" tIns="0" rIns="0" bIns="0" rtlCol="0" anchor="ctr"/>
          <a:lstStyle/>
          <a:p>
            <a:pPr indent="0" marL="0">
              <a:buNone/>
            </a:pPr>
            <a:r>
              <a:rPr lang="en-US" sz="1400" i="1" dirty="0">
                <a:solidFill>
                  <a:srgbClr val="8FA0B4"/>
                </a:solidFill>
                <a:latin typeface="Calibri" pitchFamily="34" charset="0"/>
                <a:ea typeface="Calibri" pitchFamily="34" charset="-122"/>
                <a:cs typeface="Calibri" pitchFamily="34" charset="-120"/>
              </a:rPr>
              <a:t>No transmission carries a story id. Stories are inferred: shared units, one place, one stretch of time. Venue calls skip the distance rule entirely, because inside one building distance separates nothing.</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320040" y="256032"/>
            <a:ext cx="11521440" cy="566928"/>
          </a:xfrm>
          <a:prstGeom prst="rect">
            <a:avLst/>
          </a:prstGeom>
          <a:noFill/>
          <a:ln/>
        </p:spPr>
        <p:txBody>
          <a:bodyPr wrap="square" lIns="0" tIns="0" rIns="0" bIns="0" rtlCol="0" anchor="ctr"/>
          <a:lstStyle/>
          <a:p>
            <a:pPr indent="0" marL="0">
              <a:buNone/>
            </a:pPr>
            <a:r>
              <a:rPr lang="en-US" sz="3000" b="1" dirty="0">
                <a:solidFill>
                  <a:srgbClr val="E8EDF4"/>
                </a:solidFill>
                <a:latin typeface="Cambria" pitchFamily="34" charset="0"/>
                <a:ea typeface="Cambria" pitchFamily="34" charset="-122"/>
                <a:cs typeface="Cambria" pitchFamily="34" charset="-120"/>
              </a:rPr>
              <a:t>It checks its own work</a:t>
            </a:r>
            <a:endParaRPr lang="en-US" sz="3000" dirty="0"/>
          </a:p>
        </p:txBody>
      </p:sp>
      <p:sp>
        <p:nvSpPr>
          <p:cNvPr id="5" name="Text 3"/>
          <p:cNvSpPr/>
          <p:nvPr/>
        </p:nvSpPr>
        <p:spPr>
          <a:xfrm>
            <a:off x="338328" y="841248"/>
            <a:ext cx="11521440" cy="274320"/>
          </a:xfrm>
          <a:prstGeom prst="rect">
            <a:avLst/>
          </a:prstGeom>
          <a:noFill/>
          <a:ln/>
        </p:spPr>
        <p:txBody>
          <a:bodyPr wrap="square" lIns="0" tIns="0" rIns="0" bIns="0" rtlCol="0" anchor="ctr"/>
          <a:lstStyle/>
          <a:p>
            <a:pPr indent="0" marL="0">
              <a:buNone/>
            </a:pPr>
            <a:r>
              <a:rPr lang="en-US" sz="1050" spc="150" kern="0" dirty="0">
                <a:solidFill>
                  <a:srgbClr val="5C6B7F"/>
                </a:solidFill>
                <a:latin typeface="Courier New" pitchFamily="34" charset="0"/>
                <a:ea typeface="Courier New" pitchFamily="34" charset="-122"/>
                <a:cs typeface="Courier New" pitchFamily="34" charset="-120"/>
              </a:rPr>
              <a:t>ONE MODEL WRITES · A SECOND MODEL AUDITS · DISAGREEMENT PRINTS</a:t>
            </a:r>
            <a:endParaRPr lang="en-US" sz="1050" dirty="0"/>
          </a:p>
        </p:txBody>
      </p:sp>
      <p:sp>
        <p:nvSpPr>
          <p:cNvPr id="6" name="Shape 4"/>
          <p:cNvSpPr/>
          <p:nvPr/>
        </p:nvSpPr>
        <p:spPr>
          <a:xfrm>
            <a:off x="365760" y="1600200"/>
            <a:ext cx="3429000" cy="3291840"/>
          </a:xfrm>
          <a:prstGeom prst="roundRect">
            <a:avLst>
              <a:gd name="adj" fmla="val 2222"/>
            </a:avLst>
          </a:prstGeom>
          <a:solidFill>
            <a:srgbClr val="0D131D"/>
          </a:solidFill>
          <a:ln w="12700">
            <a:solidFill>
              <a:srgbClr val="232C3B"/>
            </a:solidFill>
            <a:prstDash val="solid"/>
          </a:ln>
        </p:spPr>
      </p:sp>
      <p:sp>
        <p:nvSpPr>
          <p:cNvPr id="7" name="Text 5"/>
          <p:cNvSpPr/>
          <p:nvPr/>
        </p:nvSpPr>
        <p:spPr>
          <a:xfrm>
            <a:off x="594360" y="1828800"/>
            <a:ext cx="2971800" cy="365760"/>
          </a:xfrm>
          <a:prstGeom prst="rect">
            <a:avLst/>
          </a:prstGeom>
          <a:noFill/>
          <a:ln/>
        </p:spPr>
        <p:txBody>
          <a:bodyPr wrap="square" lIns="0" tIns="0" rIns="0" bIns="0" rtlCol="0" anchor="ctr"/>
          <a:lstStyle/>
          <a:p>
            <a:pPr indent="0" marL="0">
              <a:buNone/>
            </a:pPr>
            <a:r>
              <a:rPr lang="en-US" sz="1400" b="1" spc="150" kern="0" dirty="0">
                <a:solidFill>
                  <a:srgbClr val="34D399"/>
                </a:solidFill>
                <a:latin typeface="Courier New" pitchFamily="34" charset="0"/>
                <a:ea typeface="Courier New" pitchFamily="34" charset="-122"/>
                <a:cs typeface="Courier New" pitchFamily="34" charset="-120"/>
              </a:rPr>
              <a:t>THE ANALYST</a:t>
            </a:r>
            <a:endParaRPr lang="en-US" sz="1400" dirty="0"/>
          </a:p>
        </p:txBody>
      </p:sp>
      <p:sp>
        <p:nvSpPr>
          <p:cNvPr id="8" name="Text 6"/>
          <p:cNvSpPr/>
          <p:nvPr/>
        </p:nvSpPr>
        <p:spPr>
          <a:xfrm>
            <a:off x="594360" y="2286000"/>
            <a:ext cx="2971800" cy="2468880"/>
          </a:xfrm>
          <a:prstGeom prst="rect">
            <a:avLst/>
          </a:prstGeom>
          <a:noFill/>
          <a:ln/>
        </p:spPr>
        <p:txBody>
          <a:bodyPr wrap="square" lIns="0" tIns="0" rIns="0" bIns="0" rtlCol="0" anchor="t"/>
          <a:lstStyle/>
          <a:p>
            <a:pPr indent="0" marL="0">
              <a:buNone/>
            </a:pPr>
            <a:r>
              <a:rPr lang="en-US" sz="1350" dirty="0">
                <a:solidFill>
                  <a:srgbClr val="8FA0B4"/>
                </a:solidFill>
                <a:latin typeface="Calibri" pitchFamily="34" charset="0"/>
                <a:ea typeface="Calibri" pitchFamily="34" charset="-122"/>
                <a:cs typeface="Calibri" pitchFamily="34" charset="-120"/>
              </a:rPr>
              <a:t>Reads batches of raw transcript and writes the situations board: headline, summary, location, priority. Good at narrative. Too eager, left alone.</a:t>
            </a:r>
            <a:endParaRPr lang="en-US" sz="1350" dirty="0"/>
          </a:p>
        </p:txBody>
      </p:sp>
      <p:sp>
        <p:nvSpPr>
          <p:cNvPr id="9" name="Shape 7"/>
          <p:cNvSpPr/>
          <p:nvPr/>
        </p:nvSpPr>
        <p:spPr>
          <a:xfrm>
            <a:off x="4379976" y="1600200"/>
            <a:ext cx="3429000" cy="3291840"/>
          </a:xfrm>
          <a:prstGeom prst="roundRect">
            <a:avLst>
              <a:gd name="adj" fmla="val 2222"/>
            </a:avLst>
          </a:prstGeom>
          <a:solidFill>
            <a:srgbClr val="0D131D"/>
          </a:solidFill>
          <a:ln w="12700">
            <a:solidFill>
              <a:srgbClr val="232C3B"/>
            </a:solidFill>
            <a:prstDash val="solid"/>
          </a:ln>
        </p:spPr>
      </p:sp>
      <p:sp>
        <p:nvSpPr>
          <p:cNvPr id="10" name="Text 8"/>
          <p:cNvSpPr/>
          <p:nvPr/>
        </p:nvSpPr>
        <p:spPr>
          <a:xfrm>
            <a:off x="4608576" y="1828800"/>
            <a:ext cx="2971800" cy="365760"/>
          </a:xfrm>
          <a:prstGeom prst="rect">
            <a:avLst/>
          </a:prstGeom>
          <a:noFill/>
          <a:ln/>
        </p:spPr>
        <p:txBody>
          <a:bodyPr wrap="square" lIns="0" tIns="0" rIns="0" bIns="0" rtlCol="0" anchor="ctr"/>
          <a:lstStyle/>
          <a:p>
            <a:pPr indent="0" marL="0">
              <a:buNone/>
            </a:pPr>
            <a:r>
              <a:rPr lang="en-US" sz="1400" b="1" spc="150" kern="0" dirty="0">
                <a:solidFill>
                  <a:srgbClr val="FFB020"/>
                </a:solidFill>
                <a:latin typeface="Courier New" pitchFamily="34" charset="0"/>
                <a:ea typeface="Courier New" pitchFamily="34" charset="-122"/>
                <a:cs typeface="Courier New" pitchFamily="34" charset="-120"/>
              </a:rPr>
              <a:t>THE JUDGE</a:t>
            </a:r>
            <a:endParaRPr lang="en-US" sz="1400" dirty="0"/>
          </a:p>
        </p:txBody>
      </p:sp>
      <p:sp>
        <p:nvSpPr>
          <p:cNvPr id="11" name="Text 9"/>
          <p:cNvSpPr/>
          <p:nvPr/>
        </p:nvSpPr>
        <p:spPr>
          <a:xfrm>
            <a:off x="4608576" y="2286000"/>
            <a:ext cx="2971800" cy="2468880"/>
          </a:xfrm>
          <a:prstGeom prst="rect">
            <a:avLst/>
          </a:prstGeom>
          <a:noFill/>
          <a:ln/>
        </p:spPr>
        <p:txBody>
          <a:bodyPr wrap="square" lIns="0" tIns="0" rIns="0" bIns="0" rtlCol="0" anchor="t"/>
          <a:lstStyle/>
          <a:p>
            <a:pPr indent="0" marL="0">
              <a:buNone/>
            </a:pPr>
            <a:r>
              <a:rPr lang="en-US" sz="1350" dirty="0">
                <a:solidFill>
                  <a:srgbClr val="8FA0B4"/>
                </a:solidFill>
                <a:latin typeface="Calibri" pitchFamily="34" charset="0"/>
                <a:ea typeface="Calibri" pitchFamily="34" charset="-122"/>
                <a:cs typeface="Calibri" pitchFamily="34" charset="-120"/>
              </a:rPr>
              <a:t>Audits every claim against the transcript. A “confirmed” nobody said on air gets stripped. Severity with no root in the audio gets cut. Two addresses never merge into one story.</a:t>
            </a:r>
            <a:endParaRPr lang="en-US" sz="1350" dirty="0"/>
          </a:p>
        </p:txBody>
      </p:sp>
      <p:sp>
        <p:nvSpPr>
          <p:cNvPr id="12" name="Shape 10"/>
          <p:cNvSpPr/>
          <p:nvPr/>
        </p:nvSpPr>
        <p:spPr>
          <a:xfrm>
            <a:off x="8394192" y="1600200"/>
            <a:ext cx="3429000" cy="3291840"/>
          </a:xfrm>
          <a:prstGeom prst="roundRect">
            <a:avLst>
              <a:gd name="adj" fmla="val 2222"/>
            </a:avLst>
          </a:prstGeom>
          <a:solidFill>
            <a:srgbClr val="0D131D"/>
          </a:solidFill>
          <a:ln w="12700">
            <a:solidFill>
              <a:srgbClr val="232C3B"/>
            </a:solidFill>
            <a:prstDash val="solid"/>
          </a:ln>
        </p:spPr>
      </p:sp>
      <p:sp>
        <p:nvSpPr>
          <p:cNvPr id="13" name="Text 11"/>
          <p:cNvSpPr/>
          <p:nvPr/>
        </p:nvSpPr>
        <p:spPr>
          <a:xfrm>
            <a:off x="8622792" y="1828800"/>
            <a:ext cx="2971800" cy="365760"/>
          </a:xfrm>
          <a:prstGeom prst="rect">
            <a:avLst/>
          </a:prstGeom>
          <a:noFill/>
          <a:ln/>
        </p:spPr>
        <p:txBody>
          <a:bodyPr wrap="square" lIns="0" tIns="0" rIns="0" bIns="0" rtlCol="0" anchor="ctr"/>
          <a:lstStyle/>
          <a:p>
            <a:pPr indent="0" marL="0">
              <a:buNone/>
            </a:pPr>
            <a:r>
              <a:rPr lang="en-US" sz="1400" b="1" spc="150" kern="0" dirty="0">
                <a:solidFill>
                  <a:srgbClr val="4DA3FF"/>
                </a:solidFill>
                <a:latin typeface="Courier New" pitchFamily="34" charset="0"/>
                <a:ea typeface="Courier New" pitchFamily="34" charset="-122"/>
                <a:cs typeface="Courier New" pitchFamily="34" charset="-120"/>
              </a:rPr>
              <a:t>THE BOARD</a:t>
            </a:r>
            <a:endParaRPr lang="en-US" sz="1400" dirty="0"/>
          </a:p>
        </p:txBody>
      </p:sp>
      <p:sp>
        <p:nvSpPr>
          <p:cNvPr id="14" name="Text 12"/>
          <p:cNvSpPr/>
          <p:nvPr/>
        </p:nvSpPr>
        <p:spPr>
          <a:xfrm>
            <a:off x="8622792" y="2286000"/>
            <a:ext cx="2971800" cy="2468880"/>
          </a:xfrm>
          <a:prstGeom prst="rect">
            <a:avLst/>
          </a:prstGeom>
          <a:noFill/>
          <a:ln/>
        </p:spPr>
        <p:txBody>
          <a:bodyPr wrap="square" lIns="0" tIns="0" rIns="0" bIns="0" rtlCol="0" anchor="t"/>
          <a:lstStyle/>
          <a:p>
            <a:pPr indent="0" marL="0">
              <a:buNone/>
            </a:pPr>
            <a:r>
              <a:rPr lang="en-US" sz="1350" dirty="0">
                <a:solidFill>
                  <a:srgbClr val="8FA0B4"/>
                </a:solidFill>
                <a:latin typeface="Calibri" pitchFamily="34" charset="0"/>
                <a:ea typeface="Calibri" pitchFamily="34" charset="-122"/>
                <a:cs typeface="Calibri" pitchFamily="34" charset="-120"/>
              </a:rPr>
              <a:t>What survives, printed with its scars: the screen literally says “model overruled” and why, so an editor sees the disagreement instead of a false clean answer.</a:t>
            </a:r>
            <a:endParaRPr lang="en-US" sz="1350" dirty="0"/>
          </a:p>
        </p:txBody>
      </p:sp>
      <p:sp>
        <p:nvSpPr>
          <p:cNvPr id="15" name="Shape 13"/>
          <p:cNvSpPr/>
          <p:nvPr/>
        </p:nvSpPr>
        <p:spPr>
          <a:xfrm>
            <a:off x="3840480" y="3246120"/>
            <a:ext cx="493776" cy="0"/>
          </a:xfrm>
          <a:prstGeom prst="line">
            <a:avLst/>
          </a:prstGeom>
          <a:noFill/>
          <a:ln w="25400">
            <a:solidFill>
              <a:srgbClr val="34D399"/>
            </a:solidFill>
            <a:prstDash val="solid"/>
            <a:tailEnd type="triangle"/>
          </a:ln>
        </p:spPr>
      </p:sp>
      <p:sp>
        <p:nvSpPr>
          <p:cNvPr id="16" name="Shape 14"/>
          <p:cNvSpPr/>
          <p:nvPr/>
        </p:nvSpPr>
        <p:spPr>
          <a:xfrm>
            <a:off x="7854696" y="3246120"/>
            <a:ext cx="493776" cy="0"/>
          </a:xfrm>
          <a:prstGeom prst="line">
            <a:avLst/>
          </a:prstGeom>
          <a:noFill/>
          <a:ln w="25400">
            <a:solidFill>
              <a:srgbClr val="34D399"/>
            </a:solidFill>
            <a:prstDash val="solid"/>
            <a:tailEnd type="triangle"/>
          </a:ln>
        </p:spPr>
      </p:sp>
      <p:sp>
        <p:nvSpPr>
          <p:cNvPr id="17" name="Text 15"/>
          <p:cNvSpPr/>
          <p:nvPr/>
        </p:nvSpPr>
        <p:spPr>
          <a:xfrm>
            <a:off x="365760" y="5257800"/>
            <a:ext cx="11430000" cy="365760"/>
          </a:xfrm>
          <a:prstGeom prst="rect">
            <a:avLst/>
          </a:prstGeom>
          <a:noFill/>
          <a:ln/>
        </p:spPr>
        <p:txBody>
          <a:bodyPr wrap="square" lIns="0" tIns="0" rIns="0" bIns="0" rtlCol="0" anchor="ctr"/>
          <a:lstStyle/>
          <a:p>
            <a:pPr indent="0" marL="0">
              <a:buNone/>
            </a:pPr>
            <a:r>
              <a:rPr lang="en-US" sz="1400" i="1" dirty="0">
                <a:solidFill>
                  <a:srgbClr val="8FA0B4"/>
                </a:solidFill>
                <a:latin typeface="Calibri" pitchFamily="34" charset="0"/>
                <a:ea typeface="Calibri" pitchFamily="34" charset="-122"/>
                <a:cs typeface="Calibri" pitchFamily="34" charset="-120"/>
              </a:rPr>
              <a:t>Quiet is an acceptable answer. “Could not make it out” is an acceptable answer. Guessing is not.</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pic>
        <p:nvPicPr>
          <p:cNvPr id="4" name="Image 0" descr="/tmp/fsg/assets/rhythm.png">    </p:cNvPr>
          <p:cNvPicPr>
            <a:picLocks noChangeAspect="1"/>
          </p:cNvPicPr>
          <p:nvPr/>
        </p:nvPicPr>
        <p:blipFill>
          <a:blip r:embed="rId1"/>
          <a:stretch>
            <a:fillRect/>
          </a:stretch>
        </p:blipFill>
        <p:spPr>
          <a:xfrm>
            <a:off x="320040" y="365760"/>
            <a:ext cx="11548872" cy="5193792"/>
          </a:xfrm>
          <a:prstGeom prst="rect">
            <a:avLst/>
          </a:prstGeom>
        </p:spPr>
      </p:pic>
      <p:sp>
        <p:nvSpPr>
          <p:cNvPr id="5" name="Text 2"/>
          <p:cNvSpPr/>
          <p:nvPr/>
        </p:nvSpPr>
        <p:spPr>
          <a:xfrm>
            <a:off x="365760" y="5760720"/>
            <a:ext cx="11430000" cy="457200"/>
          </a:xfrm>
          <a:prstGeom prst="rect">
            <a:avLst/>
          </a:prstGeom>
          <a:noFill/>
          <a:ln/>
        </p:spPr>
        <p:txBody>
          <a:bodyPr wrap="square" lIns="0" tIns="0" rIns="0" bIns="0" rtlCol="0" anchor="ctr"/>
          <a:lstStyle/>
          <a:p>
            <a:pPr indent="0" marL="0">
              <a:buNone/>
            </a:pPr>
            <a:r>
              <a:rPr lang="en-US" sz="1400" i="1" dirty="0">
                <a:solidFill>
                  <a:srgbClr val="8FA0B4"/>
                </a:solidFill>
                <a:latin typeface="Calibri" pitchFamily="34" charset="0"/>
                <a:ea typeface="Calibri" pitchFamily="34" charset="-122"/>
                <a:cs typeface="Calibri" pitchFamily="34" charset="-120"/>
              </a:rPr>
              <a:t>The two days' hourly curves correlate at r = 0.86. Even the failure is recorded: the amber mark is our own relay outage, kept in the archive like everything else.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pic>
        <p:nvPicPr>
          <p:cNvPr id="4" name="Image 0" descr="/tmp/fsg/assets/calltypes.png">    </p:cNvPr>
          <p:cNvPicPr>
            <a:picLocks noChangeAspect="1"/>
          </p:cNvPicPr>
          <p:nvPr/>
        </p:nvPicPr>
        <p:blipFill>
          <a:blip r:embed="rId1"/>
          <a:stretch>
            <a:fillRect/>
          </a:stretch>
        </p:blipFill>
        <p:spPr>
          <a:xfrm>
            <a:off x="594360" y="1143000"/>
            <a:ext cx="11000232" cy="2825496"/>
          </a:xfrm>
          <a:prstGeom prst="rect">
            <a:avLst/>
          </a:prstGeom>
        </p:spPr>
      </p:pic>
      <p:sp>
        <p:nvSpPr>
          <p:cNvPr id="5" name="Text 2"/>
          <p:cNvSpPr/>
          <p:nvPr/>
        </p:nvSpPr>
        <p:spPr>
          <a:xfrm>
            <a:off x="640080" y="4434840"/>
            <a:ext cx="10972800" cy="457200"/>
          </a:xfrm>
          <a:prstGeom prst="rect">
            <a:avLst/>
          </a:prstGeom>
          <a:noFill/>
          <a:ln/>
        </p:spPr>
        <p:txBody>
          <a:bodyPr wrap="square" lIns="0" tIns="0" rIns="0" bIns="0" rtlCol="0" anchor="ctr"/>
          <a:lstStyle/>
          <a:p>
            <a:pPr indent="0" marL="0">
              <a:buNone/>
            </a:pPr>
            <a:r>
              <a:rPr lang="en-US" sz="1400" i="1" dirty="0">
                <a:solidFill>
                  <a:srgbClr val="8FA0B4"/>
                </a:solidFill>
                <a:latin typeface="Calibri" pitchFamily="34" charset="0"/>
                <a:ea typeface="Calibri" pitchFamily="34" charset="-122"/>
                <a:cs typeface="Calibri" pitchFamily="34" charset="-120"/>
              </a:rPr>
              <a:t>Medicals and alarms are the city's background hum. Tier is the machine's severity score: wounds, weapons, working fires, escalations.</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320040" y="256032"/>
            <a:ext cx="11521440" cy="566928"/>
          </a:xfrm>
          <a:prstGeom prst="rect">
            <a:avLst/>
          </a:prstGeom>
          <a:noFill/>
          <a:ln/>
        </p:spPr>
        <p:txBody>
          <a:bodyPr wrap="square" lIns="0" tIns="0" rIns="0" bIns="0" rtlCol="0" anchor="ctr"/>
          <a:lstStyle/>
          <a:p>
            <a:pPr indent="0" marL="0">
              <a:buNone/>
            </a:pPr>
            <a:r>
              <a:rPr lang="en-US" sz="3000" b="1" dirty="0">
                <a:solidFill>
                  <a:srgbClr val="E8EDF4"/>
                </a:solidFill>
                <a:latin typeface="Cambria" pitchFamily="34" charset="0"/>
                <a:ea typeface="Cambria" pitchFamily="34" charset="-122"/>
                <a:cs typeface="Cambria" pitchFamily="34" charset="-120"/>
              </a:rPr>
              <a:t>The surfaces</a:t>
            </a:r>
            <a:endParaRPr lang="en-US" sz="3000" dirty="0"/>
          </a:p>
        </p:txBody>
      </p:sp>
      <p:sp>
        <p:nvSpPr>
          <p:cNvPr id="5" name="Text 3"/>
          <p:cNvSpPr/>
          <p:nvPr/>
        </p:nvSpPr>
        <p:spPr>
          <a:xfrm>
            <a:off x="338328" y="841248"/>
            <a:ext cx="11521440" cy="274320"/>
          </a:xfrm>
          <a:prstGeom prst="rect">
            <a:avLst/>
          </a:prstGeom>
          <a:noFill/>
          <a:ln/>
        </p:spPr>
        <p:txBody>
          <a:bodyPr wrap="square" lIns="0" tIns="0" rIns="0" bIns="0" rtlCol="0" anchor="ctr"/>
          <a:lstStyle/>
          <a:p>
            <a:pPr indent="0" marL="0">
              <a:buNone/>
            </a:pPr>
            <a:r>
              <a:rPr lang="en-US" sz="1050" spc="150" kern="0" dirty="0">
                <a:solidFill>
                  <a:srgbClr val="5C6B7F"/>
                </a:solidFill>
                <a:latin typeface="Courier New" pitchFamily="34" charset="0"/>
                <a:ea typeface="Courier New" pitchFamily="34" charset="-122"/>
                <a:cs typeface="Courier New" pitchFamily="34" charset="-120"/>
              </a:rPr>
              <a:t>THE LIVE HALF AND THE MEMORY HALF, ONE STORE UNDER ALL OF IT</a:t>
            </a:r>
            <a:endParaRPr lang="en-US" sz="1050" dirty="0"/>
          </a:p>
        </p:txBody>
      </p:sp>
      <p:sp>
        <p:nvSpPr>
          <p:cNvPr id="6" name="Shape 4"/>
          <p:cNvSpPr/>
          <p:nvPr/>
        </p:nvSpPr>
        <p:spPr>
          <a:xfrm>
            <a:off x="365760" y="1417320"/>
            <a:ext cx="3785616" cy="2057400"/>
          </a:xfrm>
          <a:prstGeom prst="roundRect">
            <a:avLst>
              <a:gd name="adj" fmla="val 3556"/>
            </a:avLst>
          </a:prstGeom>
          <a:solidFill>
            <a:srgbClr val="0D131D"/>
          </a:solidFill>
          <a:ln w="12700">
            <a:solidFill>
              <a:srgbClr val="232C3B"/>
            </a:solidFill>
            <a:prstDash val="solid"/>
          </a:ln>
        </p:spPr>
      </p:sp>
      <p:sp>
        <p:nvSpPr>
          <p:cNvPr id="7" name="Text 5"/>
          <p:cNvSpPr/>
          <p:nvPr/>
        </p:nvSpPr>
        <p:spPr>
          <a:xfrm>
            <a:off x="566928" y="1581912"/>
            <a:ext cx="3383280" cy="320040"/>
          </a:xfrm>
          <a:prstGeom prst="rect">
            <a:avLst/>
          </a:prstGeom>
          <a:noFill/>
          <a:ln/>
        </p:spPr>
        <p:txBody>
          <a:bodyPr wrap="square" lIns="0" tIns="0" rIns="0" bIns="0" rtlCol="0" anchor="ctr"/>
          <a:lstStyle/>
          <a:p>
            <a:pPr indent="0" marL="0">
              <a:buNone/>
            </a:pPr>
            <a:r>
              <a:rPr lang="en-US" sz="1250" b="1" spc="150" kern="0" dirty="0">
                <a:solidFill>
                  <a:srgbClr val="34D399"/>
                </a:solidFill>
                <a:latin typeface="Courier New" pitchFamily="34" charset="0"/>
                <a:ea typeface="Courier New" pitchFamily="34" charset="-122"/>
                <a:cs typeface="Courier New" pitchFamily="34" charset="-120"/>
              </a:rPr>
              <a:t>THE MAP</a:t>
            </a:r>
            <a:endParaRPr lang="en-US" sz="1250" dirty="0"/>
          </a:p>
        </p:txBody>
      </p:sp>
      <p:sp>
        <p:nvSpPr>
          <p:cNvPr id="8" name="Text 6"/>
          <p:cNvSpPr/>
          <p:nvPr/>
        </p:nvSpPr>
        <p:spPr>
          <a:xfrm>
            <a:off x="566928" y="1965960"/>
            <a:ext cx="3383280" cy="1371600"/>
          </a:xfrm>
          <a:prstGeom prst="rect">
            <a:avLst/>
          </a:prstGeom>
          <a:noFill/>
          <a:ln/>
        </p:spPr>
        <p:txBody>
          <a:bodyPr wrap="square" lIns="0" tIns="0" rIns="0" bIns="0" rtlCol="0" anchor="t"/>
          <a:lstStyle/>
          <a:p>
            <a:pPr indent="0" marL="0">
              <a:buNone/>
            </a:pPr>
            <a:r>
              <a:rPr lang="en-US" sz="1250" dirty="0">
                <a:solidFill>
                  <a:srgbClr val="8FA0B4"/>
                </a:solidFill>
                <a:latin typeface="Calibri" pitchFamily="34" charset="0"/>
                <a:ea typeface="Calibri" pitchFamily="34" charset="-122"/>
                <a:cs typeface="Calibri" pitchFamily="34" charset="-120"/>
              </a:rPr>
              <a:t>Dots in call-type colors, situations ringed, venue calls squared. The wall of the operation.</a:t>
            </a:r>
            <a:endParaRPr lang="en-US" sz="1250" dirty="0"/>
          </a:p>
        </p:txBody>
      </p:sp>
      <p:sp>
        <p:nvSpPr>
          <p:cNvPr id="9" name="Shape 7"/>
          <p:cNvSpPr/>
          <p:nvPr/>
        </p:nvSpPr>
        <p:spPr>
          <a:xfrm>
            <a:off x="4379976" y="1417320"/>
            <a:ext cx="3785616" cy="2057400"/>
          </a:xfrm>
          <a:prstGeom prst="roundRect">
            <a:avLst>
              <a:gd name="adj" fmla="val 3556"/>
            </a:avLst>
          </a:prstGeom>
          <a:solidFill>
            <a:srgbClr val="0D131D"/>
          </a:solidFill>
          <a:ln w="12700">
            <a:solidFill>
              <a:srgbClr val="232C3B"/>
            </a:solidFill>
            <a:prstDash val="solid"/>
          </a:ln>
        </p:spPr>
      </p:sp>
      <p:sp>
        <p:nvSpPr>
          <p:cNvPr id="10" name="Text 8"/>
          <p:cNvSpPr/>
          <p:nvPr/>
        </p:nvSpPr>
        <p:spPr>
          <a:xfrm>
            <a:off x="4581144" y="1581912"/>
            <a:ext cx="3383280" cy="320040"/>
          </a:xfrm>
          <a:prstGeom prst="rect">
            <a:avLst/>
          </a:prstGeom>
          <a:noFill/>
          <a:ln/>
        </p:spPr>
        <p:txBody>
          <a:bodyPr wrap="square" lIns="0" tIns="0" rIns="0" bIns="0" rtlCol="0" anchor="ctr"/>
          <a:lstStyle/>
          <a:p>
            <a:pPr indent="0" marL="0">
              <a:buNone/>
            </a:pPr>
            <a:r>
              <a:rPr lang="en-US" sz="1250" b="1" spc="150" kern="0" dirty="0">
                <a:solidFill>
                  <a:srgbClr val="34D399"/>
                </a:solidFill>
                <a:latin typeface="Courier New" pitchFamily="34" charset="0"/>
                <a:ea typeface="Courier New" pitchFamily="34" charset="-122"/>
                <a:cs typeface="Courier New" pitchFamily="34" charset="-120"/>
              </a:rPr>
              <a:t>THE BOARD + WIRE</a:t>
            </a:r>
            <a:endParaRPr lang="en-US" sz="1250" dirty="0"/>
          </a:p>
        </p:txBody>
      </p:sp>
      <p:sp>
        <p:nvSpPr>
          <p:cNvPr id="11" name="Text 9"/>
          <p:cNvSpPr/>
          <p:nvPr/>
        </p:nvSpPr>
        <p:spPr>
          <a:xfrm>
            <a:off x="4581144" y="1965960"/>
            <a:ext cx="3383280" cy="1371600"/>
          </a:xfrm>
          <a:prstGeom prst="rect">
            <a:avLst/>
          </a:prstGeom>
          <a:noFill/>
          <a:ln/>
        </p:spPr>
        <p:txBody>
          <a:bodyPr wrap="square" lIns="0" tIns="0" rIns="0" bIns="0" rtlCol="0" anchor="t"/>
          <a:lstStyle/>
          <a:p>
            <a:pPr indent="0" marL="0">
              <a:buNone/>
            </a:pPr>
            <a:r>
              <a:rPr lang="en-US" sz="1250" dirty="0">
                <a:solidFill>
                  <a:srgbClr val="8FA0B4"/>
                </a:solidFill>
                <a:latin typeface="Calibri" pitchFamily="34" charset="0"/>
                <a:ea typeface="Calibri" pitchFamily="34" charset="-122"/>
                <a:cs typeface="Calibri" pitchFamily="34" charset="-120"/>
              </a:rPr>
              <a:t>Situations as an editor would brief them, over the raw transcript ticker as it happens.</a:t>
            </a:r>
            <a:endParaRPr lang="en-US" sz="1250" dirty="0"/>
          </a:p>
        </p:txBody>
      </p:sp>
      <p:sp>
        <p:nvSpPr>
          <p:cNvPr id="12" name="Shape 10"/>
          <p:cNvSpPr/>
          <p:nvPr/>
        </p:nvSpPr>
        <p:spPr>
          <a:xfrm>
            <a:off x="8394192" y="1417320"/>
            <a:ext cx="3785616" cy="2057400"/>
          </a:xfrm>
          <a:prstGeom prst="roundRect">
            <a:avLst>
              <a:gd name="adj" fmla="val 3556"/>
            </a:avLst>
          </a:prstGeom>
          <a:solidFill>
            <a:srgbClr val="0D131D"/>
          </a:solidFill>
          <a:ln w="12700">
            <a:solidFill>
              <a:srgbClr val="232C3B"/>
            </a:solidFill>
            <a:prstDash val="solid"/>
          </a:ln>
        </p:spPr>
      </p:sp>
      <p:sp>
        <p:nvSpPr>
          <p:cNvPr id="13" name="Text 11"/>
          <p:cNvSpPr/>
          <p:nvPr/>
        </p:nvSpPr>
        <p:spPr>
          <a:xfrm>
            <a:off x="8595360" y="1581912"/>
            <a:ext cx="3383280" cy="320040"/>
          </a:xfrm>
          <a:prstGeom prst="rect">
            <a:avLst/>
          </a:prstGeom>
          <a:noFill/>
          <a:ln/>
        </p:spPr>
        <p:txBody>
          <a:bodyPr wrap="square" lIns="0" tIns="0" rIns="0" bIns="0" rtlCol="0" anchor="ctr"/>
          <a:lstStyle/>
          <a:p>
            <a:pPr indent="0" marL="0">
              <a:buNone/>
            </a:pPr>
            <a:r>
              <a:rPr lang="en-US" sz="1250" b="1" spc="150" kern="0" dirty="0">
                <a:solidFill>
                  <a:srgbClr val="34D399"/>
                </a:solidFill>
                <a:latin typeface="Courier New" pitchFamily="34" charset="0"/>
                <a:ea typeface="Courier New" pitchFamily="34" charset="-122"/>
                <a:cs typeface="Courier New" pitchFamily="34" charset="-120"/>
              </a:rPr>
              <a:t>LISTEN</a:t>
            </a:r>
            <a:endParaRPr lang="en-US" sz="1250" dirty="0"/>
          </a:p>
        </p:txBody>
      </p:sp>
      <p:sp>
        <p:nvSpPr>
          <p:cNvPr id="14" name="Text 12"/>
          <p:cNvSpPr/>
          <p:nvPr/>
        </p:nvSpPr>
        <p:spPr>
          <a:xfrm>
            <a:off x="8595360" y="1965960"/>
            <a:ext cx="3383280" cy="1371600"/>
          </a:xfrm>
          <a:prstGeom prst="rect">
            <a:avLst/>
          </a:prstGeom>
          <a:noFill/>
          <a:ln/>
        </p:spPr>
        <p:txBody>
          <a:bodyPr wrap="square" lIns="0" tIns="0" rIns="0" bIns="0" rtlCol="0" anchor="t"/>
          <a:lstStyle/>
          <a:p>
            <a:pPr indent="0" marL="0">
              <a:buNone/>
            </a:pPr>
            <a:r>
              <a:rPr lang="en-US" sz="1250" dirty="0">
                <a:solidFill>
                  <a:srgbClr val="8FA0B4"/>
                </a:solidFill>
                <a:latin typeface="Calibri" pitchFamily="34" charset="0"/>
                <a:ea typeface="Calibri" pitchFamily="34" charset="-122"/>
                <a:cs typeface="Calibri" pitchFamily="34" charset="-120"/>
              </a:rPr>
              <a:t>The raw wall: any feed, live, several at once, straight off the air. Zero interpretation in the way.</a:t>
            </a:r>
            <a:endParaRPr lang="en-US" sz="1250" dirty="0"/>
          </a:p>
        </p:txBody>
      </p:sp>
      <p:sp>
        <p:nvSpPr>
          <p:cNvPr id="15" name="Shape 13"/>
          <p:cNvSpPr/>
          <p:nvPr/>
        </p:nvSpPr>
        <p:spPr>
          <a:xfrm>
            <a:off x="365760" y="3703320"/>
            <a:ext cx="3785616" cy="2057400"/>
          </a:xfrm>
          <a:prstGeom prst="roundRect">
            <a:avLst>
              <a:gd name="adj" fmla="val 3556"/>
            </a:avLst>
          </a:prstGeom>
          <a:solidFill>
            <a:srgbClr val="0D131D"/>
          </a:solidFill>
          <a:ln w="12700">
            <a:solidFill>
              <a:srgbClr val="232C3B"/>
            </a:solidFill>
            <a:prstDash val="solid"/>
          </a:ln>
        </p:spPr>
      </p:sp>
      <p:sp>
        <p:nvSpPr>
          <p:cNvPr id="16" name="Text 14"/>
          <p:cNvSpPr/>
          <p:nvPr/>
        </p:nvSpPr>
        <p:spPr>
          <a:xfrm>
            <a:off x="566928" y="3867912"/>
            <a:ext cx="3383280" cy="320040"/>
          </a:xfrm>
          <a:prstGeom prst="rect">
            <a:avLst/>
          </a:prstGeom>
          <a:noFill/>
          <a:ln/>
        </p:spPr>
        <p:txBody>
          <a:bodyPr wrap="square" lIns="0" tIns="0" rIns="0" bIns="0" rtlCol="0" anchor="ctr"/>
          <a:lstStyle/>
          <a:p>
            <a:pPr indent="0" marL="0">
              <a:buNone/>
            </a:pPr>
            <a:r>
              <a:rPr lang="en-US" sz="1250" b="1" spc="150" kern="0" dirty="0">
                <a:solidFill>
                  <a:srgbClr val="34D399"/>
                </a:solidFill>
                <a:latin typeface="Courier New" pitchFamily="34" charset="0"/>
                <a:ea typeface="Courier New" pitchFamily="34" charset="-122"/>
                <a:cs typeface="Courier New" pitchFamily="34" charset="-120"/>
              </a:rPr>
              <a:t>THE ARCHIVE</a:t>
            </a:r>
            <a:endParaRPr lang="en-US" sz="1250" dirty="0"/>
          </a:p>
        </p:txBody>
      </p:sp>
      <p:sp>
        <p:nvSpPr>
          <p:cNvPr id="17" name="Text 15"/>
          <p:cNvSpPr/>
          <p:nvPr/>
        </p:nvSpPr>
        <p:spPr>
          <a:xfrm>
            <a:off x="566928" y="4251960"/>
            <a:ext cx="3383280" cy="1371600"/>
          </a:xfrm>
          <a:prstGeom prst="rect">
            <a:avLst/>
          </a:prstGeom>
          <a:noFill/>
          <a:ln/>
        </p:spPr>
        <p:txBody>
          <a:bodyPr wrap="square" lIns="0" tIns="0" rIns="0" bIns="0" rtlCol="0" anchor="t"/>
          <a:lstStyle/>
          <a:p>
            <a:pPr indent="0" marL="0">
              <a:buNone/>
            </a:pPr>
            <a:r>
              <a:rPr lang="en-US" sz="1250" dirty="0">
                <a:solidFill>
                  <a:srgbClr val="8FA0B4"/>
                </a:solidFill>
                <a:latin typeface="Calibri" pitchFamily="34" charset="0"/>
                <a:ea typeface="Calibri" pitchFamily="34" charset="-122"/>
                <a:cs typeface="Calibri" pitchFamily="34" charset="-120"/>
              </a:rPr>
              <a:t>Ask in English: “stabbing last night in Dorchester.” Time, type, place parsed; scenes returned with audio.</a:t>
            </a:r>
            <a:endParaRPr lang="en-US" sz="1250" dirty="0"/>
          </a:p>
        </p:txBody>
      </p:sp>
      <p:sp>
        <p:nvSpPr>
          <p:cNvPr id="18" name="Shape 16"/>
          <p:cNvSpPr/>
          <p:nvPr/>
        </p:nvSpPr>
        <p:spPr>
          <a:xfrm>
            <a:off x="4379976" y="3703320"/>
            <a:ext cx="3785616" cy="2057400"/>
          </a:xfrm>
          <a:prstGeom prst="roundRect">
            <a:avLst>
              <a:gd name="adj" fmla="val 3556"/>
            </a:avLst>
          </a:prstGeom>
          <a:solidFill>
            <a:srgbClr val="0D131D"/>
          </a:solidFill>
          <a:ln w="12700">
            <a:solidFill>
              <a:srgbClr val="232C3B"/>
            </a:solidFill>
            <a:prstDash val="solid"/>
          </a:ln>
        </p:spPr>
      </p:sp>
      <p:sp>
        <p:nvSpPr>
          <p:cNvPr id="19" name="Text 17"/>
          <p:cNvSpPr/>
          <p:nvPr/>
        </p:nvSpPr>
        <p:spPr>
          <a:xfrm>
            <a:off x="4581144" y="3867912"/>
            <a:ext cx="3383280" cy="320040"/>
          </a:xfrm>
          <a:prstGeom prst="rect">
            <a:avLst/>
          </a:prstGeom>
          <a:noFill/>
          <a:ln/>
        </p:spPr>
        <p:txBody>
          <a:bodyPr wrap="square" lIns="0" tIns="0" rIns="0" bIns="0" rtlCol="0" anchor="ctr"/>
          <a:lstStyle/>
          <a:p>
            <a:pPr indent="0" marL="0">
              <a:buNone/>
            </a:pPr>
            <a:r>
              <a:rPr lang="en-US" sz="1250" b="1" spc="150" kern="0" dirty="0">
                <a:solidFill>
                  <a:srgbClr val="34D399"/>
                </a:solidFill>
                <a:latin typeface="Courier New" pitchFamily="34" charset="0"/>
                <a:ea typeface="Courier New" pitchFamily="34" charset="-122"/>
                <a:cs typeface="Courier New" pitchFamily="34" charset="-120"/>
              </a:rPr>
              <a:t>THE DESK</a:t>
            </a:r>
            <a:endParaRPr lang="en-US" sz="1250" dirty="0"/>
          </a:p>
        </p:txBody>
      </p:sp>
      <p:sp>
        <p:nvSpPr>
          <p:cNvPr id="20" name="Text 18"/>
          <p:cNvSpPr/>
          <p:nvPr/>
        </p:nvSpPr>
        <p:spPr>
          <a:xfrm>
            <a:off x="4581144" y="4251960"/>
            <a:ext cx="3383280" cy="1371600"/>
          </a:xfrm>
          <a:prstGeom prst="rect">
            <a:avLst/>
          </a:prstGeom>
          <a:noFill/>
          <a:ln/>
        </p:spPr>
        <p:txBody>
          <a:bodyPr wrap="square" lIns="0" tIns="0" rIns="0" bIns="0" rtlCol="0" anchor="t"/>
          <a:lstStyle/>
          <a:p>
            <a:pPr indent="0" marL="0">
              <a:buNone/>
            </a:pPr>
            <a:r>
              <a:rPr lang="en-US" sz="1250" dirty="0">
                <a:solidFill>
                  <a:srgbClr val="8FA0B4"/>
                </a:solidFill>
                <a:latin typeface="Calibri" pitchFamily="34" charset="0"/>
                <a:ea typeface="Calibri" pitchFamily="34" charset="-122"/>
                <a:cs typeface="Calibri" pitchFamily="34" charset="-120"/>
              </a:rPr>
              <a:t>A running 20-minute read that is allowed to say “quiet.” Ask it questions; answers cite their clips.</a:t>
            </a:r>
            <a:endParaRPr lang="en-US" sz="1250" dirty="0"/>
          </a:p>
        </p:txBody>
      </p:sp>
      <p:sp>
        <p:nvSpPr>
          <p:cNvPr id="21" name="Shape 19"/>
          <p:cNvSpPr/>
          <p:nvPr/>
        </p:nvSpPr>
        <p:spPr>
          <a:xfrm>
            <a:off x="8394192" y="3703320"/>
            <a:ext cx="3785616" cy="2057400"/>
          </a:xfrm>
          <a:prstGeom prst="roundRect">
            <a:avLst>
              <a:gd name="adj" fmla="val 3556"/>
            </a:avLst>
          </a:prstGeom>
          <a:solidFill>
            <a:srgbClr val="0D131D"/>
          </a:solidFill>
          <a:ln w="12700">
            <a:solidFill>
              <a:srgbClr val="232C3B"/>
            </a:solidFill>
            <a:prstDash val="solid"/>
          </a:ln>
        </p:spPr>
      </p:sp>
      <p:sp>
        <p:nvSpPr>
          <p:cNvPr id="22" name="Text 20"/>
          <p:cNvSpPr/>
          <p:nvPr/>
        </p:nvSpPr>
        <p:spPr>
          <a:xfrm>
            <a:off x="8595360" y="3867912"/>
            <a:ext cx="3383280" cy="320040"/>
          </a:xfrm>
          <a:prstGeom prst="rect">
            <a:avLst/>
          </a:prstGeom>
          <a:noFill/>
          <a:ln/>
        </p:spPr>
        <p:txBody>
          <a:bodyPr wrap="square" lIns="0" tIns="0" rIns="0" bIns="0" rtlCol="0" anchor="ctr"/>
          <a:lstStyle/>
          <a:p>
            <a:pPr indent="0" marL="0">
              <a:buNone/>
            </a:pPr>
            <a:r>
              <a:rPr lang="en-US" sz="1250" b="1" spc="150" kern="0" dirty="0">
                <a:solidFill>
                  <a:srgbClr val="34D399"/>
                </a:solidFill>
                <a:latin typeface="Courier New" pitchFamily="34" charset="0"/>
                <a:ea typeface="Courier New" pitchFamily="34" charset="-122"/>
                <a:cs typeface="Courier New" pitchFamily="34" charset="-120"/>
              </a:rPr>
              <a:t>SHIFT CHANGE</a:t>
            </a:r>
            <a:endParaRPr lang="en-US" sz="1250" dirty="0"/>
          </a:p>
        </p:txBody>
      </p:sp>
      <p:sp>
        <p:nvSpPr>
          <p:cNvPr id="23" name="Text 21"/>
          <p:cNvSpPr/>
          <p:nvPr/>
        </p:nvSpPr>
        <p:spPr>
          <a:xfrm>
            <a:off x="8595360" y="4251960"/>
            <a:ext cx="3383280" cy="1371600"/>
          </a:xfrm>
          <a:prstGeom prst="rect">
            <a:avLst/>
          </a:prstGeom>
          <a:noFill/>
          <a:ln/>
        </p:spPr>
        <p:txBody>
          <a:bodyPr wrap="square" lIns="0" tIns="0" rIns="0" bIns="0" rtlCol="0" anchor="t"/>
          <a:lstStyle/>
          <a:p>
            <a:pPr indent="0" marL="0">
              <a:buNone/>
            </a:pPr>
            <a:r>
              <a:rPr lang="en-US" sz="1250" dirty="0">
                <a:solidFill>
                  <a:srgbClr val="8FA0B4"/>
                </a:solidFill>
                <a:latin typeface="Calibri" pitchFamily="34" charset="0"/>
                <a:ea typeface="Calibri" pitchFamily="34" charset="-122"/>
                <a:cs typeface="Calibri" pitchFamily="34" charset="-120"/>
              </a:rPr>
              <a:t>Sit down to the last 10 hours: what is open now, the major calls, the also-heard. A handoff, not a feed.</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320040" y="256032"/>
            <a:ext cx="11521440" cy="566928"/>
          </a:xfrm>
          <a:prstGeom prst="rect">
            <a:avLst/>
          </a:prstGeom>
          <a:noFill/>
          <a:ln/>
        </p:spPr>
        <p:txBody>
          <a:bodyPr wrap="square" lIns="0" tIns="0" rIns="0" bIns="0" rtlCol="0" anchor="ctr"/>
          <a:lstStyle/>
          <a:p>
            <a:pPr indent="0" marL="0">
              <a:buNone/>
            </a:pPr>
            <a:r>
              <a:rPr lang="en-US" sz="3000" b="1" dirty="0">
                <a:solidFill>
                  <a:srgbClr val="E8EDF4"/>
                </a:solidFill>
                <a:latin typeface="Cambria" pitchFamily="34" charset="0"/>
                <a:ea typeface="Cambria" pitchFamily="34" charset="-122"/>
                <a:cs typeface="Cambria" pitchFamily="34" charset="-120"/>
              </a:rPr>
              <a:t>The wall, in a pocket</a:t>
            </a:r>
            <a:endParaRPr lang="en-US" sz="3000" dirty="0"/>
          </a:p>
        </p:txBody>
      </p:sp>
      <p:sp>
        <p:nvSpPr>
          <p:cNvPr id="5" name="Text 3"/>
          <p:cNvSpPr/>
          <p:nvPr/>
        </p:nvSpPr>
        <p:spPr>
          <a:xfrm>
            <a:off x="338328" y="841248"/>
            <a:ext cx="11521440" cy="274320"/>
          </a:xfrm>
          <a:prstGeom prst="rect">
            <a:avLst/>
          </a:prstGeom>
          <a:noFill/>
          <a:ln/>
        </p:spPr>
        <p:txBody>
          <a:bodyPr wrap="square" lIns="0" tIns="0" rIns="0" bIns="0" rtlCol="0" anchor="ctr"/>
          <a:lstStyle/>
          <a:p>
            <a:pPr indent="0" marL="0">
              <a:buNone/>
            </a:pPr>
            <a:r>
              <a:rPr lang="en-US" sz="1050" spc="150" kern="0" dirty="0">
                <a:solidFill>
                  <a:srgbClr val="5C6B7F"/>
                </a:solidFill>
                <a:latin typeface="Courier New" pitchFamily="34" charset="0"/>
                <a:ea typeface="Courier New" pitchFamily="34" charset="-122"/>
                <a:cs typeface="Courier New" pitchFamily="34" charset="-120"/>
              </a:rPr>
              <a:t>NATIVE IOS / IPADOS, SAME ROUTES, NO NEW SERVER SURFACE</a:t>
            </a:r>
            <a:endParaRPr lang="en-US" sz="1050" dirty="0"/>
          </a:p>
        </p:txBody>
      </p:sp>
      <p:pic>
        <p:nvPicPr>
          <p:cNvPr id="6" name="Image 0" descr="/tmp/fsg/assets/phone.png">    </p:cNvPr>
          <p:cNvPicPr>
            <a:picLocks noChangeAspect="1"/>
          </p:cNvPicPr>
          <p:nvPr/>
        </p:nvPicPr>
        <p:blipFill>
          <a:blip r:embed="rId1"/>
          <a:stretch>
            <a:fillRect/>
          </a:stretch>
        </p:blipFill>
        <p:spPr>
          <a:xfrm>
            <a:off x="685800" y="1325880"/>
            <a:ext cx="3063240" cy="4718304"/>
          </a:xfrm>
          <a:prstGeom prst="rect">
            <a:avLst/>
          </a:prstGeom>
        </p:spPr>
      </p:pic>
      <p:sp>
        <p:nvSpPr>
          <p:cNvPr id="7" name="Text 4"/>
          <p:cNvSpPr/>
          <p:nvPr/>
        </p:nvSpPr>
        <p:spPr>
          <a:xfrm>
            <a:off x="4389120" y="1508760"/>
            <a:ext cx="7315200" cy="4389120"/>
          </a:xfrm>
          <a:prstGeom prst="rect">
            <a:avLst/>
          </a:prstGeom>
          <a:noFill/>
          <a:ln/>
        </p:spPr>
        <p:txBody>
          <a:bodyPr wrap="square" lIns="0" tIns="0" rIns="0" bIns="0" rtlCol="0" anchor="t"/>
          <a:lstStyle/>
          <a:p>
            <a:pPr indent="0" marL="0">
              <a:buNone/>
            </a:pPr>
            <a:r>
              <a:rPr lang="en-US" sz="1600" dirty="0">
                <a:solidFill>
                  <a:srgbClr val="8FA0B4"/>
                </a:solidFill>
                <a:latin typeface="Calibri" pitchFamily="34" charset="0"/>
                <a:ea typeface="Calibri" pitchFamily="34" charset="-122"/>
                <a:cs typeface="Calibri" pitchFamily="34" charset="-120"/>
              </a:rPr>
              <a:t>Native SwiftUI, six tabs: Map, Board, Listen, Archive, Shift, Desk. One shared radio player, chains transmissions oldest-first from any screen.
</a:t>
            </a:r>
            <a:pPr indent="0" marL="0">
              <a:buNone/>
            </a:pPr>
            <a:r>
              <a:rPr lang="en-US" sz="1600" dirty="0">
                <a:solidFill>
                  <a:srgbClr val="8FA0B4"/>
                </a:solidFill>
                <a:latin typeface="Calibri" pitchFamily="34" charset="0"/>
                <a:ea typeface="Calibri" pitchFamily="34" charset="-122"/>
                <a:cs typeface="Calibri" pitchFamily="34" charset="-120"/>
              </a:rPr>
              <a:t>The phone holds no state the server does not own. Delete the app, reinstall it: the board is the board.
</a:t>
            </a:r>
            <a:pPr indent="0" marL="0">
              <a:buNone/>
            </a:pPr>
            <a:r>
              <a:rPr lang="en-US" sz="1600" dirty="0">
                <a:solidFill>
                  <a:srgbClr val="8FA0B4"/>
                </a:solidFill>
                <a:latin typeface="Calibri" pitchFamily="34" charset="0"/>
                <a:ea typeface="Calibri" pitchFamily="34" charset="-122"/>
                <a:cs typeface="Calibri" pitchFamily="34" charset="-120"/>
              </a:rPr>
              <a:t>Credentials live in the device Keychain. Audio keeps playing with the screen locked, which is how a night editor actually uses it.
</a:t>
            </a:r>
            <a:pPr indent="0" marL="0">
              <a:buNone/>
            </a:pPr>
            <a:r>
              <a:rPr lang="en-US" sz="1600" b="1" dirty="0">
                <a:solidFill>
                  <a:srgbClr val="34D399"/>
                </a:solidFill>
                <a:latin typeface="Calibri" pitchFamily="34" charset="0"/>
                <a:ea typeface="Calibri" pitchFamily="34" charset="-122"/>
                <a:cs typeface="Calibri" pitchFamily="34" charset="-120"/>
              </a:rPr>
              <a:t>Empty folder to running on a phone: one day.</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pic>
        <p:nvPicPr>
          <p:cNvPr id="4" name="Image 0" descr="/tmp/fsg/assets/venue.png">    </p:cNvPr>
          <p:cNvPicPr>
            <a:picLocks noChangeAspect="1"/>
          </p:cNvPicPr>
          <p:nvPr/>
        </p:nvPicPr>
        <p:blipFill>
          <a:blip r:embed="rId1"/>
          <a:stretch>
            <a:fillRect/>
          </a:stretch>
        </p:blipFill>
        <p:spPr>
          <a:xfrm>
            <a:off x="658368" y="384048"/>
            <a:ext cx="10881360" cy="5824728"/>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320040" y="256032"/>
            <a:ext cx="11521440" cy="566928"/>
          </a:xfrm>
          <a:prstGeom prst="rect">
            <a:avLst/>
          </a:prstGeom>
          <a:noFill/>
          <a:ln/>
        </p:spPr>
        <p:txBody>
          <a:bodyPr wrap="square" lIns="0" tIns="0" rIns="0" bIns="0" rtlCol="0" anchor="ctr"/>
          <a:lstStyle/>
          <a:p>
            <a:pPr indent="0" marL="0">
              <a:buNone/>
            </a:pPr>
            <a:r>
              <a:rPr lang="en-US" sz="3000" b="1" dirty="0">
                <a:solidFill>
                  <a:srgbClr val="E8EDF4"/>
                </a:solidFill>
                <a:latin typeface="Cambria" pitchFamily="34" charset="0"/>
                <a:ea typeface="Cambria" pitchFamily="34" charset="-122"/>
                <a:cs typeface="Cambria" pitchFamily="34" charset="-120"/>
              </a:rPr>
              <a:t>What compounds</a:t>
            </a:r>
            <a:endParaRPr lang="en-US" sz="3000" dirty="0"/>
          </a:p>
        </p:txBody>
      </p:sp>
      <p:sp>
        <p:nvSpPr>
          <p:cNvPr id="5" name="Text 3"/>
          <p:cNvSpPr/>
          <p:nvPr/>
        </p:nvSpPr>
        <p:spPr>
          <a:xfrm>
            <a:off x="338328" y="841248"/>
            <a:ext cx="11521440" cy="274320"/>
          </a:xfrm>
          <a:prstGeom prst="rect">
            <a:avLst/>
          </a:prstGeom>
          <a:noFill/>
          <a:ln/>
        </p:spPr>
        <p:txBody>
          <a:bodyPr wrap="square" lIns="0" tIns="0" rIns="0" bIns="0" rtlCol="0" anchor="ctr"/>
          <a:lstStyle/>
          <a:p>
            <a:pPr indent="0" marL="0">
              <a:buNone/>
            </a:pPr>
            <a:r>
              <a:rPr lang="en-US" sz="1050" spc="150" kern="0" dirty="0">
                <a:solidFill>
                  <a:srgbClr val="5C6B7F"/>
                </a:solidFill>
                <a:latin typeface="Courier New" pitchFamily="34" charset="0"/>
                <a:ea typeface="Courier New" pitchFamily="34" charset="-122"/>
                <a:cs typeface="Courier New" pitchFamily="34" charset="-120"/>
              </a:rPr>
              <a:t>~2.9M ROWS A YEAR AT TODAY'S PACE · A NIGHTLY FILE AND A LAPTOP</a:t>
            </a:r>
            <a:endParaRPr lang="en-US" sz="1050" dirty="0"/>
          </a:p>
        </p:txBody>
      </p:sp>
      <p:sp>
        <p:nvSpPr>
          <p:cNvPr id="6" name="Shape 4"/>
          <p:cNvSpPr/>
          <p:nvPr/>
        </p:nvSpPr>
        <p:spPr>
          <a:xfrm>
            <a:off x="365760" y="1417320"/>
            <a:ext cx="3785616" cy="1874520"/>
          </a:xfrm>
          <a:prstGeom prst="roundRect">
            <a:avLst>
              <a:gd name="adj" fmla="val 3902"/>
            </a:avLst>
          </a:prstGeom>
          <a:solidFill>
            <a:srgbClr val="0D131D"/>
          </a:solidFill>
          <a:ln w="12700">
            <a:solidFill>
              <a:srgbClr val="232C3B"/>
            </a:solidFill>
            <a:prstDash val="solid"/>
          </a:ln>
        </p:spPr>
      </p:sp>
      <p:sp>
        <p:nvSpPr>
          <p:cNvPr id="7" name="Text 5"/>
          <p:cNvSpPr/>
          <p:nvPr/>
        </p:nvSpPr>
        <p:spPr>
          <a:xfrm>
            <a:off x="566928" y="1563624"/>
            <a:ext cx="3401568"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ourier New" pitchFamily="34" charset="0"/>
                <a:ea typeface="Courier New" pitchFamily="34" charset="-122"/>
                <a:cs typeface="Courier New" pitchFamily="34" charset="-120"/>
              </a:rPr>
              <a:t>RECURRENCE</a:t>
            </a:r>
            <a:endParaRPr lang="en-US" sz="1100" dirty="0"/>
          </a:p>
        </p:txBody>
      </p:sp>
      <p:sp>
        <p:nvSpPr>
          <p:cNvPr id="8" name="Text 6"/>
          <p:cNvSpPr/>
          <p:nvPr/>
        </p:nvSpPr>
        <p:spPr>
          <a:xfrm>
            <a:off x="566928" y="1874520"/>
            <a:ext cx="3401568" cy="365760"/>
          </a:xfrm>
          <a:prstGeom prst="rect">
            <a:avLst/>
          </a:prstGeom>
          <a:noFill/>
          <a:ln/>
        </p:spPr>
        <p:txBody>
          <a:bodyPr wrap="square" lIns="0" tIns="0" rIns="0" bIns="0" rtlCol="0" anchor="ctr"/>
          <a:lstStyle/>
          <a:p>
            <a:pPr indent="0" marL="0">
              <a:buNone/>
            </a:pPr>
            <a:r>
              <a:rPr lang="en-US" sz="1450" b="1" spc="50" kern="0" dirty="0">
                <a:solidFill>
                  <a:srgbClr val="E8EDF4"/>
                </a:solidFill>
                <a:latin typeface="Courier New" pitchFamily="34" charset="0"/>
                <a:ea typeface="Courier New" pitchFamily="34" charset="-122"/>
                <a:cs typeface="Courier New" pitchFamily="34" charset="-120"/>
              </a:rPr>
              <a:t>STATE ST · 73×</a:t>
            </a:r>
            <a:endParaRPr lang="en-US" sz="1450" dirty="0"/>
          </a:p>
        </p:txBody>
      </p:sp>
      <p:sp>
        <p:nvSpPr>
          <p:cNvPr id="9" name="Text 7"/>
          <p:cNvSpPr/>
          <p:nvPr/>
        </p:nvSpPr>
        <p:spPr>
          <a:xfrm>
            <a:off x="566928" y="2286000"/>
            <a:ext cx="3401568" cy="960120"/>
          </a:xfrm>
          <a:prstGeom prst="rect">
            <a:avLst/>
          </a:prstGeom>
          <a:noFill/>
          <a:ln/>
        </p:spPr>
        <p:txBody>
          <a:bodyPr wrap="square" lIns="0" tIns="0" rIns="0" bIns="0" rtlCol="0" anchor="t"/>
          <a:lstStyle/>
          <a:p>
            <a:pPr indent="0" marL="0">
              <a:buNone/>
            </a:pPr>
            <a:r>
              <a:rPr lang="en-US" sz="1050" dirty="0">
                <a:solidFill>
                  <a:srgbClr val="8FA0B4"/>
                </a:solidFill>
                <a:latin typeface="Calibri" pitchFamily="34" charset="0"/>
                <a:ea typeface="Calibri" pitchFamily="34" charset="-122"/>
                <a:cs typeface="Calibri" pitchFamily="34" charset="-120"/>
              </a:rPr>
              <a:t>Repeat places surface problem properties and corners. A year of this is a beat no official release provides.</a:t>
            </a:r>
            <a:endParaRPr lang="en-US" sz="1050" dirty="0"/>
          </a:p>
        </p:txBody>
      </p:sp>
      <p:sp>
        <p:nvSpPr>
          <p:cNvPr id="10" name="Shape 8"/>
          <p:cNvSpPr/>
          <p:nvPr/>
        </p:nvSpPr>
        <p:spPr>
          <a:xfrm>
            <a:off x="4379976" y="1417320"/>
            <a:ext cx="3785616" cy="1874520"/>
          </a:xfrm>
          <a:prstGeom prst="roundRect">
            <a:avLst>
              <a:gd name="adj" fmla="val 3902"/>
            </a:avLst>
          </a:prstGeom>
          <a:solidFill>
            <a:srgbClr val="0D131D"/>
          </a:solidFill>
          <a:ln w="12700">
            <a:solidFill>
              <a:srgbClr val="232C3B"/>
            </a:solidFill>
            <a:prstDash val="solid"/>
          </a:ln>
        </p:spPr>
      </p:sp>
      <p:sp>
        <p:nvSpPr>
          <p:cNvPr id="11" name="Text 9"/>
          <p:cNvSpPr/>
          <p:nvPr/>
        </p:nvSpPr>
        <p:spPr>
          <a:xfrm>
            <a:off x="4581144" y="1563624"/>
            <a:ext cx="3401568"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ourier New" pitchFamily="34" charset="0"/>
                <a:ea typeface="Courier New" pitchFamily="34" charset="-122"/>
                <a:cs typeface="Courier New" pitchFamily="34" charset="-120"/>
              </a:rPr>
              <a:t>THE PULSE</a:t>
            </a:r>
            <a:endParaRPr lang="en-US" sz="1100" dirty="0"/>
          </a:p>
        </p:txBody>
      </p:sp>
      <p:sp>
        <p:nvSpPr>
          <p:cNvPr id="12" name="Text 10"/>
          <p:cNvSpPr/>
          <p:nvPr/>
        </p:nvSpPr>
        <p:spPr>
          <a:xfrm>
            <a:off x="4581144" y="1874520"/>
            <a:ext cx="3401568" cy="365760"/>
          </a:xfrm>
          <a:prstGeom prst="rect">
            <a:avLst/>
          </a:prstGeom>
          <a:noFill/>
          <a:ln/>
        </p:spPr>
        <p:txBody>
          <a:bodyPr wrap="square" lIns="0" tIns="0" rIns="0" bIns="0" rtlCol="0" anchor="ctr"/>
          <a:lstStyle/>
          <a:p>
            <a:pPr indent="0" marL="0">
              <a:buNone/>
            </a:pPr>
            <a:r>
              <a:rPr lang="en-US" sz="1450" b="1" spc="50" kern="0" dirty="0">
                <a:solidFill>
                  <a:srgbClr val="E8EDF4"/>
                </a:solidFill>
                <a:latin typeface="Courier New" pitchFamily="34" charset="0"/>
                <a:ea typeface="Courier New" pitchFamily="34" charset="-122"/>
                <a:cs typeface="Courier New" pitchFamily="34" charset="-120"/>
              </a:rPr>
              <a:t>494 VS 140</a:t>
            </a:r>
            <a:endParaRPr lang="en-US" sz="1450" dirty="0"/>
          </a:p>
        </p:txBody>
      </p:sp>
      <p:sp>
        <p:nvSpPr>
          <p:cNvPr id="13" name="Text 11"/>
          <p:cNvSpPr/>
          <p:nvPr/>
        </p:nvSpPr>
        <p:spPr>
          <a:xfrm>
            <a:off x="4581144" y="2286000"/>
            <a:ext cx="3401568" cy="960120"/>
          </a:xfrm>
          <a:prstGeom prst="rect">
            <a:avLst/>
          </a:prstGeom>
          <a:noFill/>
          <a:ln/>
        </p:spPr>
        <p:txBody>
          <a:bodyPr wrap="square" lIns="0" tIns="0" rIns="0" bIns="0" rtlCol="0" anchor="t"/>
          <a:lstStyle/>
          <a:p>
            <a:pPr indent="0" marL="0">
              <a:buNone/>
            </a:pPr>
            <a:r>
              <a:rPr lang="en-US" sz="1050" dirty="0">
                <a:solidFill>
                  <a:srgbClr val="8FA0B4"/>
                </a:solidFill>
                <a:latin typeface="Calibri" pitchFamily="34" charset="0"/>
                <a:ea typeface="Calibri" pitchFamily="34" charset="-122"/>
                <a:cs typeface="Calibri" pitchFamily="34" charset="-120"/>
              </a:rPr>
              <a:t>Peak hour vs. quietest, day-over-day r = 0.86. Baselines turn anomalies into pages: “tonight is 3× normal.”</a:t>
            </a:r>
            <a:endParaRPr lang="en-US" sz="1050" dirty="0"/>
          </a:p>
        </p:txBody>
      </p:sp>
      <p:sp>
        <p:nvSpPr>
          <p:cNvPr id="14" name="Shape 12"/>
          <p:cNvSpPr/>
          <p:nvPr/>
        </p:nvSpPr>
        <p:spPr>
          <a:xfrm>
            <a:off x="8394192" y="1417320"/>
            <a:ext cx="3785616" cy="1874520"/>
          </a:xfrm>
          <a:prstGeom prst="roundRect">
            <a:avLst>
              <a:gd name="adj" fmla="val 3902"/>
            </a:avLst>
          </a:prstGeom>
          <a:solidFill>
            <a:srgbClr val="0D131D"/>
          </a:solidFill>
          <a:ln w="12700">
            <a:solidFill>
              <a:srgbClr val="232C3B"/>
            </a:solidFill>
            <a:prstDash val="solid"/>
          </a:ln>
        </p:spPr>
      </p:sp>
      <p:sp>
        <p:nvSpPr>
          <p:cNvPr id="15" name="Text 13"/>
          <p:cNvSpPr/>
          <p:nvPr/>
        </p:nvSpPr>
        <p:spPr>
          <a:xfrm>
            <a:off x="8595360" y="1563624"/>
            <a:ext cx="3401568"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ourier New" pitchFamily="34" charset="0"/>
                <a:ea typeface="Courier New" pitchFamily="34" charset="-122"/>
                <a:cs typeface="Courier New" pitchFamily="34" charset="-120"/>
              </a:rPr>
              <a:t>RADIO GAP</a:t>
            </a:r>
            <a:endParaRPr lang="en-US" sz="1100" dirty="0"/>
          </a:p>
        </p:txBody>
      </p:sp>
      <p:sp>
        <p:nvSpPr>
          <p:cNvPr id="16" name="Text 14"/>
          <p:cNvSpPr/>
          <p:nvPr/>
        </p:nvSpPr>
        <p:spPr>
          <a:xfrm>
            <a:off x="8595360" y="1874520"/>
            <a:ext cx="3401568" cy="365760"/>
          </a:xfrm>
          <a:prstGeom prst="rect">
            <a:avLst/>
          </a:prstGeom>
          <a:noFill/>
          <a:ln/>
        </p:spPr>
        <p:txBody>
          <a:bodyPr wrap="square" lIns="0" tIns="0" rIns="0" bIns="0" rtlCol="0" anchor="ctr"/>
          <a:lstStyle/>
          <a:p>
            <a:pPr indent="0" marL="0">
              <a:buNone/>
            </a:pPr>
            <a:r>
              <a:rPr lang="en-US" sz="1450" b="1" spc="50" kern="0" dirty="0">
                <a:solidFill>
                  <a:srgbClr val="E8EDF4"/>
                </a:solidFill>
                <a:latin typeface="Courier New" pitchFamily="34" charset="0"/>
                <a:ea typeface="Courier New" pitchFamily="34" charset="-122"/>
                <a:cs typeface="Courier New" pitchFamily="34" charset="-120"/>
              </a:rPr>
              <a:t>BOS 7.4 · CAM 5.5 MIN</a:t>
            </a:r>
            <a:endParaRPr lang="en-US" sz="1450" dirty="0"/>
          </a:p>
        </p:txBody>
      </p:sp>
      <p:sp>
        <p:nvSpPr>
          <p:cNvPr id="17" name="Text 15"/>
          <p:cNvSpPr/>
          <p:nvPr/>
        </p:nvSpPr>
        <p:spPr>
          <a:xfrm>
            <a:off x="8595360" y="2286000"/>
            <a:ext cx="3401568" cy="960120"/>
          </a:xfrm>
          <a:prstGeom prst="rect">
            <a:avLst/>
          </a:prstGeom>
          <a:noFill/>
          <a:ln/>
        </p:spPr>
        <p:txBody>
          <a:bodyPr wrap="square" lIns="0" tIns="0" rIns="0" bIns="0" rtlCol="0" anchor="t"/>
          <a:lstStyle/>
          <a:p>
            <a:pPr indent="0" marL="0">
              <a:buNone/>
            </a:pPr>
            <a:r>
              <a:rPr lang="en-US" sz="1050" dirty="0">
                <a:solidFill>
                  <a:srgbClr val="8FA0B4"/>
                </a:solidFill>
                <a:latin typeface="Calibri" pitchFamily="34" charset="0"/>
                <a:ea typeface="Calibri" pitchFamily="34" charset="-122"/>
                <a:cs typeface="Calibri" pitchFamily="34" charset="-120"/>
              </a:rPr>
              <a:t>Median dispatch voice to first field voice (n=112, n=25). By neighborhood, over a year, with audio receipts.</a:t>
            </a:r>
            <a:endParaRPr lang="en-US" sz="1050" dirty="0"/>
          </a:p>
        </p:txBody>
      </p:sp>
      <p:sp>
        <p:nvSpPr>
          <p:cNvPr id="18" name="Shape 16"/>
          <p:cNvSpPr/>
          <p:nvPr/>
        </p:nvSpPr>
        <p:spPr>
          <a:xfrm>
            <a:off x="365760" y="3520440"/>
            <a:ext cx="3785616" cy="1874520"/>
          </a:xfrm>
          <a:prstGeom prst="roundRect">
            <a:avLst>
              <a:gd name="adj" fmla="val 3902"/>
            </a:avLst>
          </a:prstGeom>
          <a:solidFill>
            <a:srgbClr val="0D131D"/>
          </a:solidFill>
          <a:ln w="12700">
            <a:solidFill>
              <a:srgbClr val="232C3B"/>
            </a:solidFill>
            <a:prstDash val="solid"/>
          </a:ln>
        </p:spPr>
      </p:sp>
      <p:sp>
        <p:nvSpPr>
          <p:cNvPr id="19" name="Text 17"/>
          <p:cNvSpPr/>
          <p:nvPr/>
        </p:nvSpPr>
        <p:spPr>
          <a:xfrm>
            <a:off x="566928" y="3666744"/>
            <a:ext cx="3401568"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ourier New" pitchFamily="34" charset="0"/>
                <a:ea typeface="Courier New" pitchFamily="34" charset="-122"/>
                <a:cs typeface="Courier New" pitchFamily="34" charset="-120"/>
              </a:rPr>
              <a:t>HOSPITAL FLOWS</a:t>
            </a:r>
            <a:endParaRPr lang="en-US" sz="1100" dirty="0"/>
          </a:p>
        </p:txBody>
      </p:sp>
      <p:sp>
        <p:nvSpPr>
          <p:cNvPr id="20" name="Text 18"/>
          <p:cNvSpPr/>
          <p:nvPr/>
        </p:nvSpPr>
        <p:spPr>
          <a:xfrm>
            <a:off x="566928" y="3977640"/>
            <a:ext cx="3401568" cy="365760"/>
          </a:xfrm>
          <a:prstGeom prst="rect">
            <a:avLst/>
          </a:prstGeom>
          <a:noFill/>
          <a:ln/>
        </p:spPr>
        <p:txBody>
          <a:bodyPr wrap="square" lIns="0" tIns="0" rIns="0" bIns="0" rtlCol="0" anchor="ctr"/>
          <a:lstStyle/>
          <a:p>
            <a:pPr indent="0" marL="0">
              <a:buNone/>
            </a:pPr>
            <a:r>
              <a:rPr lang="en-US" sz="1450" b="1" spc="50" kern="0" dirty="0">
                <a:solidFill>
                  <a:srgbClr val="E8EDF4"/>
                </a:solidFill>
                <a:latin typeface="Courier New" pitchFamily="34" charset="0"/>
                <a:ea typeface="Courier New" pitchFamily="34" charset="-122"/>
                <a:cs typeface="Courier New" pitchFamily="34" charset="-120"/>
              </a:rPr>
              <a:t>BMC · 65 MENTIONS</a:t>
            </a:r>
            <a:endParaRPr lang="en-US" sz="1450" dirty="0"/>
          </a:p>
        </p:txBody>
      </p:sp>
      <p:sp>
        <p:nvSpPr>
          <p:cNvPr id="21" name="Text 19"/>
          <p:cNvSpPr/>
          <p:nvPr/>
        </p:nvSpPr>
        <p:spPr>
          <a:xfrm>
            <a:off x="566928" y="4389120"/>
            <a:ext cx="3401568" cy="960120"/>
          </a:xfrm>
          <a:prstGeom prst="rect">
            <a:avLst/>
          </a:prstGeom>
          <a:noFill/>
          <a:ln/>
        </p:spPr>
        <p:txBody>
          <a:bodyPr wrap="square" lIns="0" tIns="0" rIns="0" bIns="0" rtlCol="0" anchor="t"/>
          <a:lstStyle/>
          <a:p>
            <a:pPr indent="0" marL="0">
              <a:buNone/>
            </a:pPr>
            <a:r>
              <a:rPr lang="en-US" sz="1050" dirty="0">
                <a:solidFill>
                  <a:srgbClr val="8FA0B4"/>
                </a:solidFill>
                <a:latin typeface="Calibri" pitchFamily="34" charset="0"/>
                <a:ea typeface="Calibri" pitchFamily="34" charset="-122"/>
                <a:cs typeface="Calibri" pitchFamily="34" charset="-120"/>
              </a:rPr>
              <a:t>More than the next three hospitals combined. Where the city's ambulances actually go, heard nightly.</a:t>
            </a:r>
            <a:endParaRPr lang="en-US" sz="1050" dirty="0"/>
          </a:p>
        </p:txBody>
      </p:sp>
      <p:sp>
        <p:nvSpPr>
          <p:cNvPr id="22" name="Shape 20"/>
          <p:cNvSpPr/>
          <p:nvPr/>
        </p:nvSpPr>
        <p:spPr>
          <a:xfrm>
            <a:off x="4379976" y="3520440"/>
            <a:ext cx="3785616" cy="1874520"/>
          </a:xfrm>
          <a:prstGeom prst="roundRect">
            <a:avLst>
              <a:gd name="adj" fmla="val 3902"/>
            </a:avLst>
          </a:prstGeom>
          <a:solidFill>
            <a:srgbClr val="0D131D"/>
          </a:solidFill>
          <a:ln w="12700">
            <a:solidFill>
              <a:srgbClr val="232C3B"/>
            </a:solidFill>
            <a:prstDash val="solid"/>
          </a:ln>
        </p:spPr>
      </p:sp>
      <p:sp>
        <p:nvSpPr>
          <p:cNvPr id="23" name="Text 21"/>
          <p:cNvSpPr/>
          <p:nvPr/>
        </p:nvSpPr>
        <p:spPr>
          <a:xfrm>
            <a:off x="4581144" y="3666744"/>
            <a:ext cx="3401568"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ourier New" pitchFamily="34" charset="0"/>
                <a:ea typeface="Courier New" pitchFamily="34" charset="-122"/>
                <a:cs typeface="Courier New" pitchFamily="34" charset="-120"/>
              </a:rPr>
              <a:t>WORKLOAD</a:t>
            </a:r>
            <a:endParaRPr lang="en-US" sz="1100" dirty="0"/>
          </a:p>
        </p:txBody>
      </p:sp>
      <p:sp>
        <p:nvSpPr>
          <p:cNvPr id="24" name="Text 22"/>
          <p:cNvSpPr/>
          <p:nvPr/>
        </p:nvSpPr>
        <p:spPr>
          <a:xfrm>
            <a:off x="4581144" y="3977640"/>
            <a:ext cx="3401568" cy="365760"/>
          </a:xfrm>
          <a:prstGeom prst="rect">
            <a:avLst/>
          </a:prstGeom>
          <a:noFill/>
          <a:ln/>
        </p:spPr>
        <p:txBody>
          <a:bodyPr wrap="square" lIns="0" tIns="0" rIns="0" bIns="0" rtlCol="0" anchor="ctr"/>
          <a:lstStyle/>
          <a:p>
            <a:pPr indent="0" marL="0">
              <a:buNone/>
            </a:pPr>
            <a:r>
              <a:rPr lang="en-US" sz="1450" b="1" spc="50" kern="0" dirty="0">
                <a:solidFill>
                  <a:srgbClr val="E8EDF4"/>
                </a:solidFill>
                <a:latin typeface="Courier New" pitchFamily="34" charset="0"/>
                <a:ea typeface="Courier New" pitchFamily="34" charset="-122"/>
                <a:cs typeface="Courier New" pitchFamily="34" charset="-120"/>
              </a:rPr>
              <a:t>A1 · 372 TX</a:t>
            </a:r>
            <a:endParaRPr lang="en-US" sz="1450" dirty="0"/>
          </a:p>
        </p:txBody>
      </p:sp>
      <p:sp>
        <p:nvSpPr>
          <p:cNvPr id="25" name="Text 23"/>
          <p:cNvSpPr/>
          <p:nvPr/>
        </p:nvSpPr>
        <p:spPr>
          <a:xfrm>
            <a:off x="4581144" y="4389120"/>
            <a:ext cx="3401568" cy="960120"/>
          </a:xfrm>
          <a:prstGeom prst="rect">
            <a:avLst/>
          </a:prstGeom>
          <a:noFill/>
          <a:ln/>
        </p:spPr>
        <p:txBody>
          <a:bodyPr wrap="square" lIns="0" tIns="0" rIns="0" bIns="0" rtlCol="0" anchor="t"/>
          <a:lstStyle/>
          <a:p>
            <a:pPr indent="0" marL="0">
              <a:buNone/>
            </a:pPr>
            <a:r>
              <a:rPr lang="en-US" sz="1050" dirty="0">
                <a:solidFill>
                  <a:srgbClr val="8FA0B4"/>
                </a:solidFill>
                <a:latin typeface="Calibri" pitchFamily="34" charset="0"/>
                <a:ea typeface="Calibri" pitchFamily="34" charset="-122"/>
                <a:cs typeface="Calibri" pitchFamily="34" charset="-120"/>
              </a:rPr>
              <a:t>One ambulance dispatch voice, 372 transmissions in 48h. Staffing and fatigue curves fall out of this.</a:t>
            </a:r>
            <a:endParaRPr lang="en-US" sz="1050" dirty="0"/>
          </a:p>
        </p:txBody>
      </p:sp>
      <p:sp>
        <p:nvSpPr>
          <p:cNvPr id="26" name="Shape 24"/>
          <p:cNvSpPr/>
          <p:nvPr/>
        </p:nvSpPr>
        <p:spPr>
          <a:xfrm>
            <a:off x="8394192" y="3520440"/>
            <a:ext cx="3785616" cy="1874520"/>
          </a:xfrm>
          <a:prstGeom prst="roundRect">
            <a:avLst>
              <a:gd name="adj" fmla="val 3902"/>
            </a:avLst>
          </a:prstGeom>
          <a:solidFill>
            <a:srgbClr val="0D131D"/>
          </a:solidFill>
          <a:ln w="12700">
            <a:solidFill>
              <a:srgbClr val="232C3B"/>
            </a:solidFill>
            <a:prstDash val="solid"/>
          </a:ln>
        </p:spPr>
      </p:sp>
      <p:sp>
        <p:nvSpPr>
          <p:cNvPr id="27" name="Text 25"/>
          <p:cNvSpPr/>
          <p:nvPr/>
        </p:nvSpPr>
        <p:spPr>
          <a:xfrm>
            <a:off x="8595360" y="3666744"/>
            <a:ext cx="3401568" cy="274320"/>
          </a:xfrm>
          <a:prstGeom prst="rect">
            <a:avLst/>
          </a:prstGeom>
          <a:noFill/>
          <a:ln/>
        </p:spPr>
        <p:txBody>
          <a:bodyPr wrap="square" lIns="0" tIns="0" rIns="0" bIns="0" rtlCol="0" anchor="ctr"/>
          <a:lstStyle/>
          <a:p>
            <a:pPr indent="0" marL="0">
              <a:buNone/>
            </a:pPr>
            <a:r>
              <a:rPr lang="en-US" sz="1100" b="1" spc="150" kern="0" dirty="0">
                <a:solidFill>
                  <a:srgbClr val="34D399"/>
                </a:solidFill>
                <a:latin typeface="Courier New" pitchFamily="34" charset="0"/>
                <a:ea typeface="Courier New" pitchFamily="34" charset="-122"/>
                <a:cs typeface="Courier New" pitchFamily="34" charset="-120"/>
              </a:rPr>
              <a:t>LEAD TIME</a:t>
            </a:r>
            <a:endParaRPr lang="en-US" sz="1100" dirty="0"/>
          </a:p>
        </p:txBody>
      </p:sp>
      <p:sp>
        <p:nvSpPr>
          <p:cNvPr id="28" name="Text 26"/>
          <p:cNvSpPr/>
          <p:nvPr/>
        </p:nvSpPr>
        <p:spPr>
          <a:xfrm>
            <a:off x="8595360" y="3977640"/>
            <a:ext cx="3401568" cy="365760"/>
          </a:xfrm>
          <a:prstGeom prst="rect">
            <a:avLst/>
          </a:prstGeom>
          <a:noFill/>
          <a:ln/>
        </p:spPr>
        <p:txBody>
          <a:bodyPr wrap="square" lIns="0" tIns="0" rIns="0" bIns="0" rtlCol="0" anchor="ctr"/>
          <a:lstStyle/>
          <a:p>
            <a:pPr indent="0" marL="0">
              <a:buNone/>
            </a:pPr>
            <a:r>
              <a:rPr lang="en-US" sz="1450" b="1" spc="50" kern="0" dirty="0">
                <a:solidFill>
                  <a:srgbClr val="E8EDF4"/>
                </a:solidFill>
                <a:latin typeface="Courier New" pitchFamily="34" charset="0"/>
                <a:ea typeface="Courier New" pitchFamily="34" charset="-122"/>
                <a:cs typeface="Courier New" pitchFamily="34" charset="-120"/>
              </a:rPr>
              <a:t>TO BE MEASURED</a:t>
            </a:r>
            <a:endParaRPr lang="en-US" sz="1450" dirty="0"/>
          </a:p>
        </p:txBody>
      </p:sp>
      <p:sp>
        <p:nvSpPr>
          <p:cNvPr id="29" name="Text 27"/>
          <p:cNvSpPr/>
          <p:nvPr/>
        </p:nvSpPr>
        <p:spPr>
          <a:xfrm>
            <a:off x="8595360" y="4389120"/>
            <a:ext cx="3401568" cy="960120"/>
          </a:xfrm>
          <a:prstGeom prst="rect">
            <a:avLst/>
          </a:prstGeom>
          <a:noFill/>
          <a:ln/>
        </p:spPr>
        <p:txBody>
          <a:bodyPr wrap="square" lIns="0" tIns="0" rIns="0" bIns="0" rtlCol="0" anchor="t"/>
          <a:lstStyle/>
          <a:p>
            <a:pPr indent="0" marL="0">
              <a:buNone/>
            </a:pPr>
            <a:r>
              <a:rPr lang="en-US" sz="1050" dirty="0">
                <a:solidFill>
                  <a:srgbClr val="8FA0B4"/>
                </a:solidFill>
                <a:latin typeface="Calibri" pitchFamily="34" charset="0"/>
                <a:ea typeface="Calibri" pitchFamily="34" charset="-122"/>
                <a:cs typeface="Calibri" pitchFamily="34" charset="-120"/>
              </a:rPr>
              <a:t>Log when the air first said it vs. when the statement landed. The head start, measured, over months.</a:t>
            </a:r>
            <a:endParaRPr lang="en-US" sz="1050" dirty="0"/>
          </a:p>
        </p:txBody>
      </p:sp>
      <p:sp>
        <p:nvSpPr>
          <p:cNvPr id="30" name="Text 28"/>
          <p:cNvSpPr/>
          <p:nvPr/>
        </p:nvSpPr>
        <p:spPr>
          <a:xfrm>
            <a:off x="365760" y="5623560"/>
            <a:ext cx="11430000" cy="457200"/>
          </a:xfrm>
          <a:prstGeom prst="rect">
            <a:avLst/>
          </a:prstGeom>
          <a:noFill/>
          <a:ln/>
        </p:spPr>
        <p:txBody>
          <a:bodyPr wrap="square" lIns="0" tIns="0" rIns="0" bIns="0" rtlCol="0" anchor="ctr"/>
          <a:lstStyle/>
          <a:p>
            <a:pPr indent="0" marL="0">
              <a:buNone/>
            </a:pPr>
            <a:r>
              <a:rPr lang="en-US" sz="1400" i="1" dirty="0">
                <a:solidFill>
                  <a:srgbClr val="8FA0B4"/>
                </a:solidFill>
                <a:latin typeface="Calibri" pitchFamily="34" charset="0"/>
                <a:ea typeface="Calibri" pitchFamily="34" charset="-122"/>
                <a:cs typeface="Calibri" pitchFamily="34" charset="-120"/>
              </a:rPr>
              <a:t>Every number here is computed from the same 48-hour pull. The honest versions need months of accumulation, which is the point: the move is to never stop recording.</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sp>
        <p:nvSpPr>
          <p:cNvPr id="4" name="Text 2"/>
          <p:cNvSpPr/>
          <p:nvPr/>
        </p:nvSpPr>
        <p:spPr>
          <a:xfrm>
            <a:off x="320040" y="256032"/>
            <a:ext cx="11521440" cy="566928"/>
          </a:xfrm>
          <a:prstGeom prst="rect">
            <a:avLst/>
          </a:prstGeom>
          <a:noFill/>
          <a:ln/>
        </p:spPr>
        <p:txBody>
          <a:bodyPr wrap="square" lIns="0" tIns="0" rIns="0" bIns="0" rtlCol="0" anchor="ctr"/>
          <a:lstStyle/>
          <a:p>
            <a:pPr indent="0" marL="0">
              <a:buNone/>
            </a:pPr>
            <a:r>
              <a:rPr lang="en-US" sz="3000" b="1" dirty="0">
                <a:solidFill>
                  <a:srgbClr val="E8EDF4"/>
                </a:solidFill>
                <a:latin typeface="Cambria" pitchFamily="34" charset="0"/>
                <a:ea typeface="Cambria" pitchFamily="34" charset="-122"/>
                <a:cs typeface="Cambria" pitchFamily="34" charset="-120"/>
              </a:rPr>
              <a:t>What is hard, honestly</a:t>
            </a:r>
            <a:endParaRPr lang="en-US" sz="3000" dirty="0"/>
          </a:p>
        </p:txBody>
      </p:sp>
      <p:sp>
        <p:nvSpPr>
          <p:cNvPr id="5" name="Text 3"/>
          <p:cNvSpPr/>
          <p:nvPr/>
        </p:nvSpPr>
        <p:spPr>
          <a:xfrm>
            <a:off x="338328" y="841248"/>
            <a:ext cx="11521440" cy="274320"/>
          </a:xfrm>
          <a:prstGeom prst="rect">
            <a:avLst/>
          </a:prstGeom>
          <a:noFill/>
          <a:ln/>
        </p:spPr>
        <p:txBody>
          <a:bodyPr wrap="square" lIns="0" tIns="0" rIns="0" bIns="0" rtlCol="0" anchor="ctr"/>
          <a:lstStyle/>
          <a:p>
            <a:pPr indent="0" marL="0">
              <a:buNone/>
            </a:pPr>
            <a:r>
              <a:rPr lang="en-US" sz="1050" spc="150" kern="0" dirty="0">
                <a:solidFill>
                  <a:srgbClr val="5C6B7F"/>
                </a:solidFill>
                <a:latin typeface="Courier New" pitchFamily="34" charset="0"/>
                <a:ea typeface="Courier New" pitchFamily="34" charset="-122"/>
                <a:cs typeface="Courier New" pitchFamily="34" charset="-120"/>
              </a:rPr>
              <a:t>THREE FIGHTS, ONE DESIGN RULE</a:t>
            </a:r>
            <a:endParaRPr lang="en-US" sz="1050" dirty="0"/>
          </a:p>
        </p:txBody>
      </p:sp>
      <p:sp>
        <p:nvSpPr>
          <p:cNvPr id="6" name="Shape 4"/>
          <p:cNvSpPr/>
          <p:nvPr/>
        </p:nvSpPr>
        <p:spPr>
          <a:xfrm>
            <a:off x="365760" y="1463040"/>
            <a:ext cx="3785616" cy="3566160"/>
          </a:xfrm>
          <a:prstGeom prst="roundRect">
            <a:avLst>
              <a:gd name="adj" fmla="val 2051"/>
            </a:avLst>
          </a:prstGeom>
          <a:solidFill>
            <a:srgbClr val="0D131D"/>
          </a:solidFill>
          <a:ln w="12700">
            <a:solidFill>
              <a:srgbClr val="232C3B"/>
            </a:solidFill>
            <a:prstDash val="solid"/>
          </a:ln>
        </p:spPr>
      </p:sp>
      <p:sp>
        <p:nvSpPr>
          <p:cNvPr id="7" name="Text 5"/>
          <p:cNvSpPr/>
          <p:nvPr/>
        </p:nvSpPr>
        <p:spPr>
          <a:xfrm>
            <a:off x="566928" y="1691640"/>
            <a:ext cx="3383280" cy="320040"/>
          </a:xfrm>
          <a:prstGeom prst="rect">
            <a:avLst/>
          </a:prstGeom>
          <a:noFill/>
          <a:ln/>
        </p:spPr>
        <p:txBody>
          <a:bodyPr wrap="square" lIns="0" tIns="0" rIns="0" bIns="0" rtlCol="0" anchor="ctr"/>
          <a:lstStyle/>
          <a:p>
            <a:pPr indent="0" marL="0">
              <a:buNone/>
            </a:pPr>
            <a:r>
              <a:rPr lang="en-US" sz="1300" b="1" spc="200" kern="0" dirty="0">
                <a:solidFill>
                  <a:srgbClr val="FF3B30"/>
                </a:solidFill>
                <a:latin typeface="Courier New" pitchFamily="34" charset="0"/>
                <a:ea typeface="Courier New" pitchFamily="34" charset="-122"/>
                <a:cs typeface="Courier New" pitchFamily="34" charset="-120"/>
              </a:rPr>
              <a:t>SPEECH</a:t>
            </a:r>
            <a:endParaRPr lang="en-US" sz="1300" dirty="0"/>
          </a:p>
        </p:txBody>
      </p:sp>
      <p:sp>
        <p:nvSpPr>
          <p:cNvPr id="8" name="Text 6"/>
          <p:cNvSpPr/>
          <p:nvPr/>
        </p:nvSpPr>
        <p:spPr>
          <a:xfrm>
            <a:off x="566928" y="2103120"/>
            <a:ext cx="3383280" cy="1463040"/>
          </a:xfrm>
          <a:prstGeom prst="rect">
            <a:avLst/>
          </a:prstGeom>
          <a:noFill/>
          <a:ln/>
        </p:spPr>
        <p:txBody>
          <a:bodyPr wrap="square" lIns="0" tIns="0" rIns="0" bIns="0" rtlCol="0" anchor="t"/>
          <a:lstStyle/>
          <a:p>
            <a:pPr indent="0" marL="0">
              <a:buNone/>
            </a:pPr>
            <a:r>
              <a:rPr lang="en-US" sz="1300" dirty="0">
                <a:solidFill>
                  <a:srgbClr val="8FA0B4"/>
                </a:solidFill>
                <a:latin typeface="Calibri" pitchFamily="34" charset="0"/>
                <a:ea typeface="Calibri" pitchFamily="34" charset="-122"/>
                <a:cs typeface="Calibri" pitchFamily="34" charset="-120"/>
              </a:rPr>
              <a:t>Scanner audio is brutal: codes, cross-talk, garble. It heard Storrow as “Zorro” an hour into this deck's own example.</a:t>
            </a:r>
            <a:endParaRPr lang="en-US" sz="1300" dirty="0"/>
          </a:p>
        </p:txBody>
      </p:sp>
      <p:sp>
        <p:nvSpPr>
          <p:cNvPr id="9" name="Text 7"/>
          <p:cNvSpPr/>
          <p:nvPr/>
        </p:nvSpPr>
        <p:spPr>
          <a:xfrm>
            <a:off x="566928" y="3611880"/>
            <a:ext cx="3383280" cy="1280160"/>
          </a:xfrm>
          <a:prstGeom prst="rect">
            <a:avLst/>
          </a:prstGeom>
          <a:noFill/>
          <a:ln/>
        </p:spPr>
        <p:txBody>
          <a:bodyPr wrap="square" lIns="0" tIns="0" rIns="0" bIns="0" rtlCol="0" anchor="t"/>
          <a:lstStyle/>
          <a:p>
            <a:pPr indent="0" marL="0">
              <a:buNone/>
            </a:pPr>
            <a:r>
              <a:rPr lang="en-US" sz="1300" dirty="0">
                <a:solidFill>
                  <a:srgbClr val="E8EDF4"/>
                </a:solidFill>
                <a:latin typeface="Calibri" pitchFamily="34" charset="0"/>
                <a:ea typeface="Calibri" pitchFamily="34" charset="-122"/>
                <a:cs typeface="Calibri" pitchFamily="34" charset="-120"/>
              </a:rPr>
              <a:t>Keep the clip one tap from every claim, so a human ear settles it in seconds.</a:t>
            </a:r>
            <a:endParaRPr lang="en-US" sz="1300" dirty="0"/>
          </a:p>
        </p:txBody>
      </p:sp>
      <p:sp>
        <p:nvSpPr>
          <p:cNvPr id="10" name="Shape 8"/>
          <p:cNvSpPr/>
          <p:nvPr/>
        </p:nvSpPr>
        <p:spPr>
          <a:xfrm>
            <a:off x="4379976" y="1463040"/>
            <a:ext cx="3785616" cy="3566160"/>
          </a:xfrm>
          <a:prstGeom prst="roundRect">
            <a:avLst>
              <a:gd name="adj" fmla="val 2051"/>
            </a:avLst>
          </a:prstGeom>
          <a:solidFill>
            <a:srgbClr val="0D131D"/>
          </a:solidFill>
          <a:ln w="12700">
            <a:solidFill>
              <a:srgbClr val="232C3B"/>
            </a:solidFill>
            <a:prstDash val="solid"/>
          </a:ln>
        </p:spPr>
      </p:sp>
      <p:sp>
        <p:nvSpPr>
          <p:cNvPr id="11" name="Text 9"/>
          <p:cNvSpPr/>
          <p:nvPr/>
        </p:nvSpPr>
        <p:spPr>
          <a:xfrm>
            <a:off x="4581144" y="1691640"/>
            <a:ext cx="3383280" cy="320040"/>
          </a:xfrm>
          <a:prstGeom prst="rect">
            <a:avLst/>
          </a:prstGeom>
          <a:noFill/>
          <a:ln/>
        </p:spPr>
        <p:txBody>
          <a:bodyPr wrap="square" lIns="0" tIns="0" rIns="0" bIns="0" rtlCol="0" anchor="ctr"/>
          <a:lstStyle/>
          <a:p>
            <a:pPr indent="0" marL="0">
              <a:buNone/>
            </a:pPr>
            <a:r>
              <a:rPr lang="en-US" sz="1300" b="1" spc="200" kern="0" dirty="0">
                <a:solidFill>
                  <a:srgbClr val="FF3B30"/>
                </a:solidFill>
                <a:latin typeface="Courier New" pitchFamily="34" charset="0"/>
                <a:ea typeface="Courier New" pitchFamily="34" charset="-122"/>
                <a:cs typeface="Courier New" pitchFamily="34" charset="-120"/>
              </a:rPr>
              <a:t>PLACE</a:t>
            </a:r>
            <a:endParaRPr lang="en-US" sz="1300" dirty="0"/>
          </a:p>
        </p:txBody>
      </p:sp>
      <p:sp>
        <p:nvSpPr>
          <p:cNvPr id="12" name="Text 10"/>
          <p:cNvSpPr/>
          <p:nvPr/>
        </p:nvSpPr>
        <p:spPr>
          <a:xfrm>
            <a:off x="4581144" y="2103120"/>
            <a:ext cx="3383280" cy="1463040"/>
          </a:xfrm>
          <a:prstGeom prst="rect">
            <a:avLst/>
          </a:prstGeom>
          <a:noFill/>
          <a:ln/>
        </p:spPr>
        <p:txBody>
          <a:bodyPr wrap="square" lIns="0" tIns="0" rIns="0" bIns="0" rtlCol="0" anchor="t"/>
          <a:lstStyle/>
          <a:p>
            <a:pPr indent="0" marL="0">
              <a:buNone/>
            </a:pPr>
            <a:r>
              <a:rPr lang="en-US" sz="1300" dirty="0">
                <a:solidFill>
                  <a:srgbClr val="8FA0B4"/>
                </a:solidFill>
                <a:latin typeface="Calibri" pitchFamily="34" charset="0"/>
                <a:ea typeface="Calibri" pitchFamily="34" charset="-122"/>
                <a:cs typeface="Calibri" pitchFamily="34" charset="-120"/>
              </a:rPr>
              <a:t>Geocoders lie with confidence. “Boylston” is a two-mile street; hospital names are destinations, not scenes.</a:t>
            </a:r>
            <a:endParaRPr lang="en-US" sz="1300" dirty="0"/>
          </a:p>
        </p:txBody>
      </p:sp>
      <p:sp>
        <p:nvSpPr>
          <p:cNvPr id="13" name="Text 11"/>
          <p:cNvSpPr/>
          <p:nvPr/>
        </p:nvSpPr>
        <p:spPr>
          <a:xfrm>
            <a:off x="4581144" y="3611880"/>
            <a:ext cx="3383280" cy="1280160"/>
          </a:xfrm>
          <a:prstGeom prst="rect">
            <a:avLst/>
          </a:prstGeom>
          <a:noFill/>
          <a:ln/>
        </p:spPr>
        <p:txBody>
          <a:bodyPr wrap="square" lIns="0" tIns="0" rIns="0" bIns="0" rtlCol="0" anchor="t"/>
          <a:lstStyle/>
          <a:p>
            <a:pPr indent="0" marL="0">
              <a:buNone/>
            </a:pPr>
            <a:r>
              <a:rPr lang="en-US" sz="1300" dirty="0">
                <a:solidFill>
                  <a:srgbClr val="E8EDF4"/>
                </a:solidFill>
                <a:latin typeface="Calibri" pitchFamily="34" charset="0"/>
                <a:ea typeface="Calibri" pitchFamily="34" charset="-122"/>
                <a:cs typeface="Calibri" pitchFamily="34" charset="-120"/>
              </a:rPr>
              <a:t>Grade every fix, refuse to draw the weak ones, let venues override geography entirely.</a:t>
            </a:r>
            <a:endParaRPr lang="en-US" sz="1300" dirty="0"/>
          </a:p>
        </p:txBody>
      </p:sp>
      <p:sp>
        <p:nvSpPr>
          <p:cNvPr id="14" name="Shape 12"/>
          <p:cNvSpPr/>
          <p:nvPr/>
        </p:nvSpPr>
        <p:spPr>
          <a:xfrm>
            <a:off x="8394192" y="1463040"/>
            <a:ext cx="3785616" cy="3566160"/>
          </a:xfrm>
          <a:prstGeom prst="roundRect">
            <a:avLst>
              <a:gd name="adj" fmla="val 2051"/>
            </a:avLst>
          </a:prstGeom>
          <a:solidFill>
            <a:srgbClr val="0D131D"/>
          </a:solidFill>
          <a:ln w="12700">
            <a:solidFill>
              <a:srgbClr val="232C3B"/>
            </a:solidFill>
            <a:prstDash val="solid"/>
          </a:ln>
        </p:spPr>
      </p:sp>
      <p:sp>
        <p:nvSpPr>
          <p:cNvPr id="15" name="Text 13"/>
          <p:cNvSpPr/>
          <p:nvPr/>
        </p:nvSpPr>
        <p:spPr>
          <a:xfrm>
            <a:off x="8595360" y="1691640"/>
            <a:ext cx="3383280" cy="320040"/>
          </a:xfrm>
          <a:prstGeom prst="rect">
            <a:avLst/>
          </a:prstGeom>
          <a:noFill/>
          <a:ln/>
        </p:spPr>
        <p:txBody>
          <a:bodyPr wrap="square" lIns="0" tIns="0" rIns="0" bIns="0" rtlCol="0" anchor="ctr"/>
          <a:lstStyle/>
          <a:p>
            <a:pPr indent="0" marL="0">
              <a:buNone/>
            </a:pPr>
            <a:r>
              <a:rPr lang="en-US" sz="1300" b="1" spc="200" kern="0" dirty="0">
                <a:solidFill>
                  <a:srgbClr val="FF3B30"/>
                </a:solidFill>
                <a:latin typeface="Courier New" pitchFamily="34" charset="0"/>
                <a:ea typeface="Courier New" pitchFamily="34" charset="-122"/>
                <a:cs typeface="Courier New" pitchFamily="34" charset="-120"/>
              </a:rPr>
              <a:t>MODELS</a:t>
            </a:r>
            <a:endParaRPr lang="en-US" sz="1300" dirty="0"/>
          </a:p>
        </p:txBody>
      </p:sp>
      <p:sp>
        <p:nvSpPr>
          <p:cNvPr id="16" name="Text 14"/>
          <p:cNvSpPr/>
          <p:nvPr/>
        </p:nvSpPr>
        <p:spPr>
          <a:xfrm>
            <a:off x="8595360" y="2103120"/>
            <a:ext cx="3383280" cy="1463040"/>
          </a:xfrm>
          <a:prstGeom prst="rect">
            <a:avLst/>
          </a:prstGeom>
          <a:noFill/>
          <a:ln/>
        </p:spPr>
        <p:txBody>
          <a:bodyPr wrap="square" lIns="0" tIns="0" rIns="0" bIns="0" rtlCol="0" anchor="t"/>
          <a:lstStyle/>
          <a:p>
            <a:pPr indent="0" marL="0">
              <a:buNone/>
            </a:pPr>
            <a:r>
              <a:rPr lang="en-US" sz="1300" dirty="0">
                <a:solidFill>
                  <a:srgbClr val="8FA0B4"/>
                </a:solidFill>
                <a:latin typeface="Calibri" pitchFamily="34" charset="0"/>
                <a:ea typeface="Calibri" pitchFamily="34" charset="-122"/>
                <a:cs typeface="Calibri" pitchFamily="34" charset="-120"/>
              </a:rPr>
              <a:t>Language models write beautifully past their evidence. Left alone they confirm things nobody said.</a:t>
            </a:r>
            <a:endParaRPr lang="en-US" sz="1300" dirty="0"/>
          </a:p>
        </p:txBody>
      </p:sp>
      <p:sp>
        <p:nvSpPr>
          <p:cNvPr id="17" name="Text 15"/>
          <p:cNvSpPr/>
          <p:nvPr/>
        </p:nvSpPr>
        <p:spPr>
          <a:xfrm>
            <a:off x="8595360" y="3611880"/>
            <a:ext cx="3383280" cy="1280160"/>
          </a:xfrm>
          <a:prstGeom prst="rect">
            <a:avLst/>
          </a:prstGeom>
          <a:noFill/>
          <a:ln/>
        </p:spPr>
        <p:txBody>
          <a:bodyPr wrap="square" lIns="0" tIns="0" rIns="0" bIns="0" rtlCol="0" anchor="t"/>
          <a:lstStyle/>
          <a:p>
            <a:pPr indent="0" marL="0">
              <a:buNone/>
            </a:pPr>
            <a:r>
              <a:rPr lang="en-US" sz="1300" dirty="0">
                <a:solidFill>
                  <a:srgbClr val="E8EDF4"/>
                </a:solidFill>
                <a:latin typeface="Calibri" pitchFamily="34" charset="0"/>
                <a:ea typeface="Calibri" pitchFamily="34" charset="-122"/>
                <a:cs typeface="Calibri" pitchFamily="34" charset="-120"/>
              </a:rPr>
              <a:t>A second model audits the first, claims must be heard on air, and “quiet” is an acceptable answer.</a:t>
            </a:r>
            <a:endParaRPr lang="en-US" sz="1300" dirty="0"/>
          </a:p>
        </p:txBody>
      </p:sp>
      <p:sp>
        <p:nvSpPr>
          <p:cNvPr id="18" name="Text 16"/>
          <p:cNvSpPr/>
          <p:nvPr/>
        </p:nvSpPr>
        <p:spPr>
          <a:xfrm>
            <a:off x="365760" y="5394960"/>
            <a:ext cx="11430000" cy="457200"/>
          </a:xfrm>
          <a:prstGeom prst="rect">
            <a:avLst/>
          </a:prstGeom>
          <a:noFill/>
          <a:ln/>
        </p:spPr>
        <p:txBody>
          <a:bodyPr wrap="square" lIns="0" tIns="0" rIns="0" bIns="0" rtlCol="0" anchor="ctr"/>
          <a:lstStyle/>
          <a:p>
            <a:pPr indent="0" marL="0">
              <a:buNone/>
            </a:pPr>
            <a:r>
              <a:rPr lang="en-US" sz="1400" i="1" dirty="0">
                <a:solidFill>
                  <a:srgbClr val="8FA0B4"/>
                </a:solidFill>
                <a:latin typeface="Calibri" pitchFamily="34" charset="0"/>
                <a:ea typeface="Calibri" pitchFamily="34" charset="-122"/>
                <a:cs typeface="Calibri" pitchFamily="34" charset="-120"/>
              </a:rPr>
              <a:t>The rule everywhere: the machine states less than it knows and shows its work.</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6090F"/>
        </a:solidFill>
      </p:bgPr>
    </p:bg>
    <p:spTree>
      <p:nvGrpSpPr>
        <p:cNvPr id="1" name=""/>
        <p:cNvGrpSpPr/>
        <p:nvPr/>
      </p:nvGrpSpPr>
      <p:grpSpPr>
        <a:xfrm>
          <a:off x="0" y="0"/>
          <a:ext cx="0" cy="0"/>
          <a:chOff x="0" y="0"/>
          <a:chExt cx="0" cy="0"/>
        </a:xfrm>
      </p:grpSpPr>
      <p:sp>
        <p:nvSpPr>
          <p:cNvPr id="2" name="Text 0"/>
          <p:cNvSpPr/>
          <p:nvPr/>
        </p:nvSpPr>
        <p:spPr>
          <a:xfrm>
            <a:off x="320040" y="6473952"/>
            <a:ext cx="3657600" cy="274320"/>
          </a:xfrm>
          <a:prstGeom prst="rect">
            <a:avLst/>
          </a:prstGeom>
          <a:noFill/>
          <a:ln/>
        </p:spPr>
        <p:txBody>
          <a:bodyPr wrap="square" lIns="0" tIns="0" rIns="0" bIns="0" rtlCol="0" anchor="ctr"/>
          <a:lstStyle/>
          <a:p>
            <a:pPr indent="0" marL="0">
              <a:buNone/>
            </a:pPr>
            <a:r>
              <a:rPr lang="en-US" sz="800" spc="200" kern="0" dirty="0">
                <a:solidFill>
                  <a:srgbClr val="5C6B7F"/>
                </a:solidFill>
                <a:latin typeface="Courier New" pitchFamily="34" charset="0"/>
                <a:ea typeface="Courier New" pitchFamily="34" charset="-122"/>
                <a:cs typeface="Courier New" pitchFamily="34" charset="-120"/>
              </a:rPr>
              <a:t>BOSTON CONTROL CENTER</a:t>
            </a:r>
            <a:endParaRPr lang="en-US" sz="800" dirty="0"/>
          </a:p>
        </p:txBody>
      </p:sp>
      <p:sp>
        <p:nvSpPr>
          <p:cNvPr id="3" name="Text 1"/>
          <p:cNvSpPr/>
          <p:nvPr/>
        </p:nvSpPr>
        <p:spPr>
          <a:xfrm>
            <a:off x="8138160" y="6473952"/>
            <a:ext cx="3749040" cy="274320"/>
          </a:xfrm>
          <a:prstGeom prst="rect">
            <a:avLst/>
          </a:prstGeom>
          <a:noFill/>
          <a:ln/>
        </p:spPr>
        <p:txBody>
          <a:bodyPr wrap="square" lIns="0" tIns="0" rIns="0" bIns="0" rtlCol="0" anchor="ctr"/>
          <a:lstStyle/>
          <a:p>
            <a:pPr algn="r" indent="0" marL="0">
              <a:buNone/>
            </a:pPr>
            <a:r>
              <a:rPr lang="en-US" sz="800" spc="200" kern="0" dirty="0">
                <a:solidFill>
                  <a:srgbClr val="FFB020"/>
                </a:solidFill>
                <a:latin typeface="Courier New" pitchFamily="34" charset="0"/>
                <a:ea typeface="Courier New" pitchFamily="34" charset="-122"/>
                <a:cs typeface="Courier New" pitchFamily="34" charset="-120"/>
              </a:rPr>
              <a:t>UNVERIFIED · NOT FOR PUBLICATION</a:t>
            </a:r>
            <a:endParaRPr lang="en-US" sz="800" dirty="0"/>
          </a:p>
        </p:txBody>
      </p:sp>
      <p:pic>
        <p:nvPicPr>
          <p:cNvPr id="4" name="Image 0" descr="/tmp/fsg/assets/mark.png">    </p:cNvPr>
          <p:cNvPicPr>
            <a:picLocks noChangeAspect="1"/>
          </p:cNvPicPr>
          <p:nvPr/>
        </p:nvPicPr>
        <p:blipFill>
          <a:blip r:embed="rId1"/>
          <a:stretch>
            <a:fillRect/>
          </a:stretch>
        </p:blipFill>
        <p:spPr>
          <a:xfrm>
            <a:off x="5413248" y="868680"/>
            <a:ext cx="1371600" cy="1371600"/>
          </a:xfrm>
          <a:prstGeom prst="rect">
            <a:avLst/>
          </a:prstGeom>
        </p:spPr>
      </p:pic>
      <p:sp>
        <p:nvSpPr>
          <p:cNvPr id="5" name="Text 2"/>
          <p:cNvSpPr/>
          <p:nvPr/>
        </p:nvSpPr>
        <p:spPr>
          <a:xfrm>
            <a:off x="0" y="2377440"/>
            <a:ext cx="12188952" cy="731520"/>
          </a:xfrm>
          <a:prstGeom prst="rect">
            <a:avLst/>
          </a:prstGeom>
          <a:noFill/>
          <a:ln/>
        </p:spPr>
        <p:txBody>
          <a:bodyPr wrap="square" rtlCol="0" anchor="ctr"/>
          <a:lstStyle/>
          <a:p>
            <a:pPr algn="ctr" indent="0" marL="0">
              <a:buNone/>
            </a:pPr>
            <a:r>
              <a:rPr lang="en-US" sz="4000" b="1" dirty="0">
                <a:solidFill>
                  <a:srgbClr val="E8EDF4"/>
                </a:solidFill>
                <a:latin typeface="Cambria" pitchFamily="34" charset="0"/>
                <a:ea typeface="Cambria" pitchFamily="34" charset="-122"/>
                <a:cs typeface="Cambria" pitchFamily="34" charset="-120"/>
              </a:rPr>
              <a:t>See it live</a:t>
            </a:r>
            <a:endParaRPr lang="en-US" sz="4000" dirty="0"/>
          </a:p>
        </p:txBody>
      </p:sp>
      <p:sp>
        <p:nvSpPr>
          <p:cNvPr id="6" name="Text 3"/>
          <p:cNvSpPr/>
          <p:nvPr/>
        </p:nvSpPr>
        <p:spPr>
          <a:xfrm>
            <a:off x="0" y="3200400"/>
            <a:ext cx="12188952" cy="457200"/>
          </a:xfrm>
          <a:prstGeom prst="rect">
            <a:avLst/>
          </a:prstGeom>
          <a:noFill/>
          <a:ln/>
        </p:spPr>
        <p:txBody>
          <a:bodyPr wrap="square" rtlCol="0" anchor="ctr"/>
          <a:lstStyle/>
          <a:p>
            <a:pPr algn="ctr" indent="0" marL="0">
              <a:buNone/>
            </a:pPr>
            <a:r>
              <a:rPr lang="en-US" sz="2000" spc="300" kern="0" dirty="0">
                <a:solidFill>
                  <a:srgbClr val="34D399"/>
                </a:solidFill>
                <a:latin typeface="Courier New" pitchFamily="34" charset="0"/>
                <a:ea typeface="Courier New" pitchFamily="34" charset="-122"/>
                <a:cs typeface="Courier New" pitchFamily="34" charset="-120"/>
              </a:rPr>
              <a:t>scan.boston</a:t>
            </a:r>
            <a:endParaRPr lang="en-US" sz="2000" dirty="0"/>
          </a:p>
        </p:txBody>
      </p:sp>
      <p:sp>
        <p:nvSpPr>
          <p:cNvPr id="7" name="Text 4"/>
          <p:cNvSpPr/>
          <p:nvPr/>
        </p:nvSpPr>
        <p:spPr>
          <a:xfrm>
            <a:off x="1371600" y="3977640"/>
            <a:ext cx="9445752" cy="457200"/>
          </a:xfrm>
          <a:prstGeom prst="rect">
            <a:avLst/>
          </a:prstGeom>
          <a:noFill/>
          <a:ln/>
        </p:spPr>
        <p:txBody>
          <a:bodyPr wrap="square" lIns="0" tIns="0" rIns="0" bIns="0" rtlCol="0" anchor="ctr"/>
          <a:lstStyle/>
          <a:p>
            <a:pPr algn="ctr" indent="0" marL="0">
              <a:buNone/>
            </a:pPr>
            <a:r>
              <a:rPr lang="en-US" sz="1400" dirty="0">
                <a:solidFill>
                  <a:srgbClr val="8FA0B4"/>
                </a:solidFill>
                <a:latin typeface="Calibri" pitchFamily="34" charset="0"/>
                <a:ea typeface="Calibri" pitchFamily="34" charset="-122"/>
                <a:cs typeface="Calibri" pitchFamily="34" charset="-120"/>
              </a:rPr>
              <a:t>The wall, live  ·  one archive question, typed in front of you  ·  the shift briefing  ·  two raw streams at once  ·  the phone</a:t>
            </a:r>
            <a:endParaRPr lang="en-US" sz="1400" dirty="0"/>
          </a:p>
        </p:txBody>
      </p:sp>
      <p:sp>
        <p:nvSpPr>
          <p:cNvPr id="8" name="Text 5"/>
          <p:cNvSpPr/>
          <p:nvPr/>
        </p:nvSpPr>
        <p:spPr>
          <a:xfrm>
            <a:off x="0" y="5486400"/>
            <a:ext cx="12188952" cy="365760"/>
          </a:xfrm>
          <a:prstGeom prst="rect">
            <a:avLst/>
          </a:prstGeom>
          <a:noFill/>
          <a:ln/>
        </p:spPr>
        <p:txBody>
          <a:bodyPr wrap="square" rtlCol="0" anchor="ctr"/>
          <a:lstStyle/>
          <a:p>
            <a:pPr algn="ctr" indent="0" marL="0">
              <a:buNone/>
            </a:pPr>
            <a:r>
              <a:rPr lang="en-US" sz="1100" spc="150" kern="0" dirty="0">
                <a:solidFill>
                  <a:srgbClr val="5C6B7F"/>
                </a:solidFill>
                <a:latin typeface="Courier New" pitchFamily="34" charset="0"/>
                <a:ea typeface="Courier New" pitchFamily="34" charset="-122"/>
                <a:cs typeface="Courier New" pitchFamily="34" charset="-120"/>
              </a:rPr>
              <a:t>Matt Karolian · Boston Globe Media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2026-08-21T07:00:20Z</dcterms:created>
  <dcterms:modified xsi:type="dcterms:W3CDTF">2026-08-21T07:00:20Z</dcterms:modified>
</cp:coreProperties>
</file>